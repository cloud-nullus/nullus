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331720"/>
            <a:ext cx="82296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Nullus 진행 중간공유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93C5FD"/>
                </a:solidFill>
                <a:latin typeface="맑은 고딕"/>
                <a:ea typeface="맑은 고딕"/>
              </a:rPr>
              <a:t>Kubernetes 기반 DevSecOps 자동화 오픈소스 플랫폼</a:t>
            </a:r>
          </a:p>
          <a:p>
            <a:pPr>
              <a:spcBef>
                <a:spcPts val="2200"/>
              </a:spcBef>
              <a:spcAft>
                <a:spcPts val="200"/>
              </a:spcAft>
            </a:pPr>
            <a:r>
              <a:rPr sz="1400" b="0">
                <a:solidFill>
                  <a:srgbClr val="9CA3AF"/>
                </a:solidFill>
                <a:latin typeface="맑은 고딕"/>
                <a:ea typeface="맑은 고딕"/>
              </a:rPr>
              <a:t>Cloud Nullus Team  ·  2026-08-18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</a:rPr>
              <a:t>github.com/cloud-nullus/nullus   ·   라이브 데모 cloud-nullus.github.io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기준: v0.4.1 (2026-08-10) + main Unreleased  ·  수치: 2026-08-11 실측 + 2026-08-18 코드 재추출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맑은 고딕"/>
                <a:ea typeface="맑은 고딕"/>
              </a:rPr>
              <a:t>TL;DR — 지금 어디까지 왔나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/>
            <a:r>
              <a:rPr sz="1700" b="1">
                <a:solidFill>
                  <a:srgbClr val="15803D"/>
                </a:solidFill>
                <a:latin typeface="맑은 고딕"/>
                <a:ea typeface="맑은 고딕"/>
              </a:rPr>
              <a:t>기능 축은 채웠다</a:t>
            </a:r>
          </a:p>
          <a:p>
            <a:pPr>
              <a:spcBef>
                <a:spcPts val="1000"/>
              </a:spcBef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Phase 1 기능(F0~F12) 전부 구현, 일부는 초과 달성.</a:t>
            </a:r>
          </a:p>
          <a:p>
            <a:pPr>
              <a:spcBef>
                <a:spcPts val="1000"/>
              </a:spcBef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Golden Path 템플릿 목표 3종 → 8종(+Empty). 계획에 없던 축 추가: GitHub SCM · OpenBao 시크릿 평면 · 토큰 회전 관리.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37160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/>
            <a:r>
              <a:rPr sz="1700" b="1">
                <a:solidFill>
                  <a:srgbClr val="2563EB"/>
                </a:solidFill>
                <a:latin typeface="맑은 고딕"/>
                <a:ea typeface="맑은 고딕"/>
              </a:rPr>
              <a:t>8월: 쓸 수 있는 제품으로</a:t>
            </a:r>
          </a:p>
          <a:p>
            <a:pPr>
              <a:spcBef>
                <a:spcPts val="1000"/>
              </a:spcBef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제품 둘러보기 투어(29걸음) · 8Gi Lite 템플릿 · Gitea+Jenkins 파이프라인 실배선 · OpenTelemetry 관측 계층 · 배포 후 설정 편집(Config 탭).</a:t>
            </a:r>
          </a:p>
          <a:p>
            <a:pPr>
              <a:spcBef>
                <a:spcPts val="1000"/>
              </a:spcBef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8/11 이후 커밋 169건.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/>
            <a:r>
              <a:rPr sz="1700" b="1">
                <a:solidFill>
                  <a:srgbClr val="B45309"/>
                </a:solidFill>
                <a:latin typeface="맑은 고딕"/>
                <a:ea typeface="맑은 고딕"/>
              </a:rPr>
              <a:t>v1.0 태그는 아직</a:t>
            </a:r>
          </a:p>
          <a:p>
            <a:pPr>
              <a:spcBef>
                <a:spcPts val="1000"/>
              </a:spcBef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CI/CD 영역(F5·F6) 안정화 진행 중.</a:t>
            </a:r>
          </a:p>
          <a:p>
            <a:pPr>
              <a:spcBef>
                <a:spcPts val="1000"/>
              </a:spcBef>
            </a:pP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설치 로그 DB 영속화 · OIDC 콜백 연결 등 알려진 미구현 항목이 남아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Nullus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맑은 고딕"/>
                <a:ea typeface="맑은 고딕"/>
              </a:rPr>
              <a:t>릴리스 흐름 — 3월 계획 대비 실제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834640"/>
            <a:ext cx="10789920" cy="0"/>
          </a:xfrm>
          <a:prstGeom prst="line">
            <a:avLst/>
          </a:prstGeom>
          <a:ln w="31750">
            <a:solidFill>
              <a:srgbClr val="D1D5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296619" y="2752344"/>
            <a:ext cx="164592" cy="16459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7355" y="160020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40AF"/>
                </a:solidFill>
                <a:latin typeface="맑은 고딕"/>
                <a:ea typeface="맑은 고딕"/>
              </a:rPr>
              <a:t>v0.1.0-alpha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3/15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</a:rPr>
              <a:t>최초 알파</a:t>
            </a:r>
          </a:p>
        </p:txBody>
      </p:sp>
      <p:sp>
        <p:nvSpPr>
          <p:cNvPr id="7" name="Oval 6"/>
          <p:cNvSpPr/>
          <p:nvPr/>
        </p:nvSpPr>
        <p:spPr>
          <a:xfrm>
            <a:off x="2375611" y="2752344"/>
            <a:ext cx="164592" cy="16459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6347" y="306324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40AF"/>
                </a:solidFill>
                <a:latin typeface="맑은 고딕"/>
                <a:ea typeface="맑은 고딕"/>
              </a:rPr>
              <a:t>v0.2.0-alpha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3/28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</a:rPr>
              <a:t>Phase 1 핵심 기능 13종</a:t>
            </a:r>
          </a:p>
        </p:txBody>
      </p:sp>
      <p:sp>
        <p:nvSpPr>
          <p:cNvPr id="9" name="Oval 8"/>
          <p:cNvSpPr/>
          <p:nvPr/>
        </p:nvSpPr>
        <p:spPr>
          <a:xfrm>
            <a:off x="6583680" y="2752344"/>
            <a:ext cx="164592" cy="16459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14416" y="160020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40AF"/>
                </a:solidFill>
                <a:latin typeface="맑은 고딕"/>
                <a:ea typeface="맑은 고딕"/>
              </a:rPr>
              <a:t>v0.3.0-alpha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7/28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</a:rPr>
              <a:t>OpenBao 시크릿 평면</a:t>
            </a:r>
          </a:p>
        </p:txBody>
      </p:sp>
      <p:sp>
        <p:nvSpPr>
          <p:cNvPr id="11" name="Oval 10"/>
          <p:cNvSpPr/>
          <p:nvPr/>
        </p:nvSpPr>
        <p:spPr>
          <a:xfrm>
            <a:off x="8417966" y="2752344"/>
            <a:ext cx="164592" cy="16459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48702" y="306324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40AF"/>
                </a:solidFill>
                <a:latin typeface="맑은 고딕"/>
                <a:ea typeface="맑은 고딕"/>
              </a:rPr>
              <a:t>v0.4.0-alpha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8/9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</a:rPr>
              <a:t>모니터링 실측 · 인증 강화</a:t>
            </a:r>
          </a:p>
        </p:txBody>
      </p:sp>
      <p:sp>
        <p:nvSpPr>
          <p:cNvPr id="13" name="Oval 12"/>
          <p:cNvSpPr/>
          <p:nvPr/>
        </p:nvSpPr>
        <p:spPr>
          <a:xfrm>
            <a:off x="9874605" y="2752344"/>
            <a:ext cx="164592" cy="16459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5341" y="160020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40AF"/>
                </a:solidFill>
                <a:latin typeface="맑은 고딕"/>
                <a:ea typeface="맑은 고딕"/>
              </a:rPr>
              <a:t>v0.4.1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8/10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</a:rPr>
              <a:t>스택 삭제 · 소유권 수정</a:t>
            </a:r>
          </a:p>
        </p:txBody>
      </p:sp>
      <p:sp>
        <p:nvSpPr>
          <p:cNvPr id="15" name="Oval 14"/>
          <p:cNvSpPr/>
          <p:nvPr/>
        </p:nvSpPr>
        <p:spPr>
          <a:xfrm>
            <a:off x="11115446" y="2752344"/>
            <a:ext cx="164592" cy="164592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51415" y="306324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766E"/>
                </a:solidFill>
                <a:latin typeface="맑은 고딕"/>
                <a:ea typeface="맑은 고딕"/>
              </a:rPr>
              <a:t>Unreleased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8/18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</a:rPr>
              <a:t>투어 · Lite · Jenkins · OTel · Config 편집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11155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3월 마스터 플랜(Alpha 3/30 → Beta 4/27 → v1.0 5/25)의 캘린더는 지났지만, 기능 축은 계획을 채우고 넘어섰다.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4~7월 공백 구간은 계획에 없던 확장(GitHub SCM · 시크릿 평면 · 토큰 회전)에 쓰였다 → v0.3.0-alpha 로 릴리스.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300" b="0">
                <a:solidFill>
                  <a:srgbClr val="6B7280"/>
                </a:solidFill>
                <a:latin typeface="맑은 고딕"/>
                <a:ea typeface="맑은 고딕"/>
              </a:rPr>
              <a:t>릴리스별 변경의 단일 출처는 CHANGELOG.md.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Nullus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맑은 고딕"/>
                <a:ea typeface="맑은 고딕"/>
              </a:rPr>
              <a:t>숫자로 보는 현재</a:t>
            </a:r>
          </a:p>
          <a:p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8/11 실측(현황 문서) 대비 8/18 코드 재추출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3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4663439"/>
              </a:tblGrid>
              <a:tr h="436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T="18288" marB="18288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8/11 실측</a:t>
                      </a:r>
                    </a:p>
                  </a:txBody>
                  <a:tcPr marT="18288" marB="18288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8/18 현재</a:t>
                      </a:r>
                    </a:p>
                  </a:txBody>
                  <a:tcPr marT="18288" marB="18288">
                    <a:solidFill>
                      <a:srgbClr val="1E40A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백엔드 Go 프로덕션 파일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242개 (약 38,700라인)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Go 테스트 함수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902개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1,152개  (+250)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프론트 테스트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571개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758개  (+187)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REST 엔드포인트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108개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108개+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DB 마이그레이션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000061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40AF"/>
                          </a:solidFill>
                          <a:latin typeface="맑은 고딕"/>
                          <a:ea typeface="맑은 고딕"/>
                        </a:rPr>
                        <a:t>000072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Golden Path 템플릿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6종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40AF"/>
                          </a:solidFill>
                          <a:latin typeface="맑은 고딕"/>
                          <a:ea typeface="맑은 고딕"/>
                        </a:rPr>
                        <a:t>8종 + Empty  (OTel · Gitea+Jenkins Lite 추가)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CI/CD 파이프라인 템플릿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4종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4종+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프론트 페이지 / 기능 모듈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28개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28개+ / 8모듈 (tour 신설)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406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8/11 이후 일주일간 커밋 169건 — 기능 추가보다 배선 · 검증 · 안정화 비중이 크다.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문서 현행화 병행: API 설계 27 → 108 엔드포인트, DB 스키마 문서를 실제와 맞춤 (PR #129 · #130).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Nullus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맑은 고딕"/>
                <a:ea typeface="맑은 고딕"/>
              </a:rPr>
              <a:t>PRD v1.3 Phase 1 — 기능별 상태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43000"/>
          <a:ext cx="1106423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498079"/>
                <a:gridCol w="2743200"/>
              </a:tblGrid>
              <a:tr h="30697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T="18288" marB="18288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기능</a:t>
                      </a:r>
                    </a:p>
                  </a:txBody>
                  <a:tcPr marT="18288" marB="18288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T="18288" marB="18288">
                    <a:solidFill>
                      <a:srgbClr val="1E40A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Organization 설정/멤버 관리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F1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K8s 클러스터 등록·검증 (kubeconfig AES-256-GCM 암호화)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F2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노코드 스택 설정 UI (설치 위자드)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F3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Golden Path 템플릿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40AF"/>
                          </a:solidFill>
                          <a:latin typeface="맑은 고딕"/>
                          <a:ea typeface="맑은 고딕"/>
                        </a:rPr>
                        <a:t>초과 (목표 3 → 8종)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F4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스택 자동 설치 / 재시도 / 이어하기 / 롤백 / 이력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F5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CI/CD 파이프라인 템플릿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45309"/>
                          </a:solidFill>
                          <a:latin typeface="맑은 고딕"/>
                          <a:ea typeface="맑은 고딕"/>
                        </a:rPr>
                        <a:t>안정화 진행 중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F6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CI/CD 배포/이력 (저장소 프로비저닝까지 확장)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45309"/>
                          </a:solidFill>
                          <a:latin typeface="맑은 고딕"/>
                          <a:ea typeface="맑은 고딕"/>
                        </a:rPr>
                        <a:t>초과 + 안정화 중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F7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모니터링/알림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F8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OSS 버전 호환성 (설치 전 게이트로 동작)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40AF"/>
                          </a:solidFill>
                          <a:latin typeface="맑은 고딕"/>
                          <a:ea typeface="맑은 고딕"/>
                        </a:rPr>
                        <a:t>초과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F9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UI 권한 체계 (사이드바·라우트·API 3중 검사 + OIDC)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F10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리소스 예상량 계산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F11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기존 사용자 추가 (멀티 조직 멤버십)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306979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F12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네임스페이스 선택/생성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766E"/>
                </a:solidFill>
                <a:latin typeface="맑은 고딕"/>
                <a:ea typeface="맑은 고딕"/>
              </a:rPr>
              <a:t>계획에 없던 확장:  외부 SCM(GitHub) · 스택별 OpenBao 시크릿 평면 · 토큰 회전 관리(API 9개) · 파이프라인 삭제 시 리소스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Nullus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맑은 고딕"/>
                <a:ea typeface="맑은 고딕"/>
              </a:rPr>
              <a:t>아키텍처 — Modular Monolith + Clean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097280"/>
            <a:ext cx="6675120" cy="6858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</a:rPr>
              <a:t>Frontend — React 19 + TypeScript + Vite + Tailwind 4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features: admin · auth · cicd · observability · stack · tour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423160"/>
            <a:ext cx="8503920" cy="1828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ctr"/>
            <a:r>
              <a:rPr sz="1200" b="1">
                <a:solidFill>
                  <a:srgbClr val="1E40AF"/>
                </a:solidFill>
                <a:latin typeface="맑은 고딕"/>
                <a:ea typeface="맑은 고딕"/>
              </a:rPr>
              <a:t>API Server — Go 1.24+ · Echo v4  (Modular Monolith)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3063240"/>
            <a:ext cx="1298448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</a:rPr>
              <a:t>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3063240"/>
            <a:ext cx="1298448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</a:rPr>
              <a:t>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37176" y="3063240"/>
            <a:ext cx="1298448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</a:rPr>
              <a:t>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3063240"/>
            <a:ext cx="1298448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</a:rPr>
              <a:t>Observability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6952" y="3063240"/>
            <a:ext cx="1298448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</a:rPr>
              <a:t>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063240"/>
            <a:ext cx="1298448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</a:rPr>
              <a:t>shared</a:t>
            </a:r>
          </a:p>
          <a:p>
            <a:pPr algn="ctr"/>
            <a:r>
              <a:rPr sz="800" b="0">
                <a:solidFill>
                  <a:srgbClr val="6B7280"/>
                </a:solidFill>
                <a:latin typeface="맑은 고딕"/>
                <a:ea typeface="맑은 고딕"/>
              </a:rPr>
              <a:t>audit · secrets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1783080"/>
            <a:ext cx="0" cy="64008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0" y="1874519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맑은 고딕"/>
                <a:ea typeface="맑은 고딕"/>
              </a:rPr>
              <a:t>REST API / WebSocket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892040"/>
            <a:ext cx="2377440" cy="7315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</a:rPr>
              <a:t>PostgreSQL 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892040"/>
            <a:ext cx="3840480" cy="7315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</a:rPr>
              <a:t>K8s Clusters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Helm SDK · client-go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4892040"/>
            <a:ext cx="2377440" cy="7315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</a:rPr>
              <a:t>Keycloak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OIDC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377440" y="4251960"/>
            <a:ext cx="731520" cy="64008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4251960"/>
            <a:ext cx="0" cy="64008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4251960"/>
            <a:ext cx="822960" cy="640080"/>
          </a:xfrm>
          <a:prstGeom prst="line">
            <a:avLst/>
          </a:prstGeom>
          <a:ln w="19050">
            <a:solidFill>
              <a:srgbClr val="6B72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377440" y="5989320"/>
            <a:ext cx="74066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F2937"/>
                </a:solidFill>
                <a:latin typeface="맑은 고딕"/>
                <a:ea typeface="맑은 고딕"/>
              </a:rPr>
              <a:t>설치되는 스택:  GitLab · Gitea · Jenkins · Harbor · Argo CD · Prometheus · Grafana · Loki · Tempo · OTel · OpenBao · ESO · MinIO · cert-manager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5623560"/>
            <a:ext cx="0" cy="36576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1143000"/>
            <a:ext cx="2194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맑은 고딕"/>
                <a:ea typeface="맑은 고딕"/>
              </a:rPr>
              <a:t>모듈 간 통신은 port 인터페이스로만.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0">
                <a:solidFill>
                  <a:srgbClr val="1F2937"/>
                </a:solidFill>
                <a:latin typeface="맑은 고딕"/>
                <a:ea typeface="맑은 고딕"/>
              </a:rPr>
              <a:t>각 모듈이 자기 테이블을 소유.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Nullus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맑은 고딕"/>
                <a:ea typeface="맑은 고딕"/>
              </a:rPr>
              <a:t>최근 하이라이트 ① — 진입 장벽 낮추기</a:t>
            </a:r>
          </a:p>
          <a:p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처음 온 사람이 10분 안에 흐름을 이해하게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5778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40AF"/>
                </a:solidFill>
                <a:latin typeface="맑은 고딕"/>
                <a:ea typeface="맑은 고딕"/>
              </a:rPr>
              <a:t>제품 둘러보기 투어 — 29걸음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클러스터 등록 → 템플릿 → 설치 마법사 7탭 → 배포 → 스택 목록 → CI/CD 6단계 → 모니터링까지 화면·팝업·탭을 실제로 열어 가며 안내</a:t>
            </a:r>
          </a:p>
          <a:p>
            <a:pPr lvl="1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투어 중에는 목록 GET 만 목업으로 교체 — 빈 계정에서도 흐름을 보여 주고, 끝나면 캐시에서 제거</a:t>
            </a:r>
          </a:p>
          <a:p>
            <a:pPr lvl="1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Playwright 로 화면을 직접 찍어 가며 강조 위치 · z-index · 스크롤 문제를 잡았다</a:t>
            </a:r>
          </a:p>
          <a:p>
            <a:pPr>
              <a:spcBef>
                <a:spcPts val="1600"/>
              </a:spcBef>
              <a:spcAft>
                <a:spcPts val="200"/>
              </a:spcAft>
            </a:pPr>
            <a:r>
              <a:rPr sz="1500" b="1">
                <a:solidFill>
                  <a:srgbClr val="1E40AF"/>
                </a:solidFill>
                <a:latin typeface="맑은 고딕"/>
                <a:ea typeface="맑은 고딕"/>
              </a:rPr>
              <a:t>그 외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메인 화면 퀵스타트 CTA (클러스터 없으면 이유와 다음 걸음 안내)</a:t>
            </a:r>
          </a:p>
          <a:p>
            <a:pPr lvl="1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모바일 반응형 — 9화면 × 3뷰포트 자동 점검 (이슈 16 → 0)</a:t>
            </a:r>
          </a:p>
          <a:p>
            <a:pPr lvl="1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Apache 2.0 라이선스 · 라이브 데모(cloud-nullus.github.io) · README 현행화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34440"/>
            <a:ext cx="53035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766E"/>
                </a:solidFill>
                <a:latin typeface="맑은 고딕"/>
                <a:ea typeface="맑은 고딕"/>
              </a:rPr>
              <a:t>8Gi 단일 노드용 Lite 템플릿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gitea-jenkins-argocd-lite-v1</a:t>
            </a:r>
          </a:p>
          <a:p>
            <a:pPr lvl="1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기존 소스+CI+CD 조합은 전부 최소 20Gi — 단일 노드에서 돌려 볼 템플릿이 없었다</a:t>
            </a:r>
          </a:p>
          <a:p>
            <a:pPr lvl="1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Gitea + Jenkins + Harbor + Argo CD 를 실측 기반으로 8Gi 에 맞춰 시드</a:t>
            </a:r>
          </a:p>
          <a:p>
            <a:pPr lvl="1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레지스트리(Harbor)는 뺄 수 없다 — 빼면 스택은 서는데 아무것도 배포할 수 없다</a:t>
            </a:r>
          </a:p>
          <a:p>
            <a:pPr lvl="1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템플릿에 planning_profile 추가 — “무엇을 깔지”와 함께 “얼마나 크게 깔지”도 템플릿이 약속한다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Nullus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맑은 고딕"/>
                <a:ea typeface="맑은 고딕"/>
              </a:rPr>
              <a:t>최근 하이라이트 ② — 두 번째 CI/CD 경로 실배선</a:t>
            </a:r>
          </a:p>
          <a:p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Gitea + Jenkins + Harbor + Argo CD — “고를 수만 있던” 도구를 실제로 동작하게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</a:rPr>
              <a:t>개발자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push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40280" y="1897380"/>
            <a:ext cx="201168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41448" y="137160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</a:rPr>
              <a:t>Gitea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8" y="1897380"/>
            <a:ext cx="201168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34256" y="137160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</a:rPr>
              <a:t>Jenkins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multibranch agent 파드 동적 생성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25896" y="1897380"/>
            <a:ext cx="201168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27064" y="137160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</a:rPr>
              <a:t>Harbor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프로젝트 자동 프로비저닝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18704" y="1897380"/>
            <a:ext cx="201168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19872" y="137160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</a:rPr>
              <a:t>Argo CD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GitOps sync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11512" y="1897380"/>
            <a:ext cx="201168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12680" y="137160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</a:rPr>
              <a:t>K8s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배포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108960" y="2423160"/>
            <a:ext cx="1554480" cy="0"/>
          </a:xfrm>
          <a:prstGeom prst="line">
            <a:avLst/>
          </a:prstGeom>
          <a:ln w="19050">
            <a:solidFill>
              <a:srgbClr val="6B72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00400" y="248716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매니페스트 되커밋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08960"/>
            <a:ext cx="111556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Bef>
                <a:spcPts val="800"/>
              </a:spcBef>
              <a:spcAft>
                <a:spcPts val="20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Gitea·Jenkins 는 마법사에서 고를 수는 있었지만 배포해도 설치되지 않았다 (NOT_INSTALLABLE) → 설치 · CI/CD 프로비저닝 경로에 실배선</a:t>
            </a:r>
          </a:p>
          <a:p>
            <a:pPr lvl="1">
              <a:spcBef>
                <a:spcPts val="500"/>
              </a:spcBef>
              <a:spcAft>
                <a:spcPts val="20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Jenkins 는 GitLab CI 와 트리거 모델이 다르다 — job 이 먼저 존재해야 해서 CIJobProvisioner 포트와 multibranch job 생성 단계를 신설</a:t>
            </a:r>
          </a:p>
          <a:p>
            <a:pPr lvl="1">
              <a:spcBef>
                <a:spcPts val="500"/>
              </a:spcBef>
              <a:spcAft>
                <a:spcPts val="20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CI 자격증명은 OpenBao → ESO → K8s Secret 단일 평면 유지 (Jenkins Credentials 사본을 만들지 않는다)</a:t>
            </a:r>
          </a:p>
          <a:p>
            <a:pPr lvl="1">
              <a:spcBef>
                <a:spcPts val="500"/>
              </a:spcBef>
              <a:spcAft>
                <a:spcPts val="20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CI 단계 어휘를 어댑터 경계에서 정규화 — Jenkins/GitLab/GitHub 이 늘어도 도메인·화면은 불변</a:t>
            </a:r>
          </a:p>
          <a:p>
            <a:pPr lvl="1">
              <a:spcBef>
                <a:spcPts val="500"/>
              </a:spcBef>
              <a:spcAft>
                <a:spcPts val="20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CI 서버 빌드 이력을 실행 통계로 동기화 — GitOps 경로에서 Success Rate 가 0 으로 남던 문제 해소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Nullus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맑은 고딕"/>
                <a:ea typeface="맑은 고딕"/>
              </a:rPr>
              <a:t>최근 하이라이트 ③ — 관측 계층 완결</a:t>
            </a:r>
          </a:p>
          <a:p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설치한 스택이 스스로를 관측하게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</a:rPr>
              <a:t>배포된 앱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OTLP 주소 자동 주입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</a:rPr>
              <a:t>otel-agent (DaemonSet)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/var/log/pods 수집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201168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</a:rPr>
              <a:t>otel-collector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Gateway (Deployment)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</a:rPr>
              <a:t>Tempo — 추적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24028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</a:rPr>
              <a:t>Prometheus — 메트릭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10896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  <a:ea typeface="맑은 고딕"/>
              </a:rPr>
              <a:t>Loki — 로그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3520440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1F2937"/>
                </a:solidFill>
                <a:latin typeface="맑은 고딕"/>
                <a:ea typeface="맑은 고딕"/>
              </a:rPr>
              <a:t>스택 OSS 자체 메트릭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ServiceMonitor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1874519"/>
            <a:ext cx="1097280" cy="411481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34640" y="16002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맑은 고딕"/>
                <a:ea typeface="맑은 고딕"/>
              </a:rPr>
              <a:t>OTLP gRPC 4317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926080" y="2743200"/>
            <a:ext cx="1097280" cy="3200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492240" y="1737360"/>
            <a:ext cx="1371600" cy="50292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92240" y="2560320"/>
            <a:ext cx="137160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92240" y="2834640"/>
            <a:ext cx="1371600" cy="5486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492240" y="2788920"/>
            <a:ext cx="1371600" cy="868680"/>
          </a:xfrm>
          <a:prstGeom prst="line">
            <a:avLst/>
          </a:prstGeom>
          <a:ln w="19050">
            <a:solidFill>
              <a:srgbClr val="0F766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4572000"/>
            <a:ext cx="11155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마법사의 Exporter/Agent 선택이 아무 일도 하지 않던 것을 도메인 설정에 배선 — Gateway/Agent 표준 2단 배치</a:t>
            </a:r>
          </a:p>
          <a:p>
            <a:pPr lvl="1">
              <a:spcBef>
                <a:spcPts val="500"/>
              </a:spcBef>
              <a:spcAft>
                <a:spcPts val="20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배포되는 앱 매니페스트에 OTEL_EXPORTER_OTLP_ENDPOINT 등 표준 env 자동 주입 — 수집기 없는 스택에는 넣지 않는다</a:t>
            </a:r>
          </a:p>
          <a:p>
            <a:pPr lvl="1">
              <a:spcBef>
                <a:spcPts val="500"/>
              </a:spcBef>
              <a:spcAft>
                <a:spcPts val="20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스택이 설치한 OSS(Argo CD · Loki · MinIO 등)가 자기 메트릭을 내주도록 ServiceMonitor 일괄 활성화</a:t>
            </a:r>
          </a:p>
          <a:p>
            <a:pPr lvl="1">
              <a:spcBef>
                <a:spcPts val="500"/>
              </a:spcBef>
              <a:spcAft>
                <a:spcPts val="20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Golden Path 템플릿 gitlab-argocd-otel-v1 시드 + 호환성 매트릭스 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Nullus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맑은 고딕"/>
                <a:ea typeface="맑은 고딕"/>
              </a:rPr>
              <a:t>최근 하이라이트 ④ — 배포 후 운영 루프</a:t>
            </a:r>
          </a:p>
          <a:p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설치가 끝이 아니다 — 고치고, 다시 적용하고, 기록한다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577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40AF"/>
                </a:solidFill>
                <a:latin typeface="맑은 고딕"/>
                <a:ea typeface="맑은 고딕"/>
              </a:rPr>
              <a:t>스택 Config 탭 — 릴리스 values 편집·재적용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기능분해도 NULLUS_DSS_040_040 충족</a:t>
            </a:r>
          </a:p>
          <a:p>
            <a:pPr lvl="1">
              <a:spcBef>
                <a:spcPts val="8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릴리스별 values 를 live(배포 전체) / override(사용자 커스텀) 두 단위로 편집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적용 순서는 helm 먼저, DB 나중 — 실패한 설정이 다음 배포에 실리지 않게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플랫폼 소유 경로(Harbor externalURL, OIDC 블록 등)는 표시·경고하되 막지 않는다 — 전문가용 탈출구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helm upgrade --dry-run(server) 미리보기 + Helm SDK 함정 3건(실패 리비전 · 서브차트 유실 · lookup)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F766E"/>
                </a:solidFill>
                <a:latin typeface="맑은 고딕"/>
                <a:ea typeface="맑은 고딕"/>
              </a:rPr>
              <a:t>이력과 감사</a:t>
            </a:r>
          </a:p>
          <a:p>
            <a:pPr lvl="1">
              <a:spcBef>
                <a:spcPts val="8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적용 직전 스냅샷 → 기존 diff·롤백 경로로 되짚기. 실패한 적용도 기록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감사에는 건드린 키만 남기고 값은 남기지 않는다 — 자격증명 유출 방지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OIDC 모드에서 감사 로그 user_id 가 비던 문제를 ActorFromContext 로 일원화해 해소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Nullus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맑은 고딕"/>
                <a:ea typeface="맑은 고딕"/>
              </a:rPr>
              <a:t>품질 · 테스트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6423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4572000"/>
                <a:gridCol w="4389120"/>
              </a:tblGrid>
              <a:tr h="4419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레이어</a:t>
                      </a:r>
                    </a:p>
                  </a:txBody>
                  <a:tcPr marT="18288" marB="18288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도구</a:t>
                      </a:r>
                    </a:p>
                  </a:txBody>
                  <a:tcPr marT="18288" marB="18288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 (8/18)</a:t>
                      </a:r>
                    </a:p>
                  </a:txBody>
                  <a:tcPr marT="18288" marB="18288">
                    <a:solidFill>
                      <a:srgbClr val="1E40A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Go 단위/통합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testing · testify · testcontainers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테스트 함수 1,152개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프론트 단위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Vitest + testing-library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테스트 758개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E2E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Playwright (web/e2e) + Go E2E (e2e/)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투어 걸음별 스크린샷 검증 포함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반응형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npm run responsive:audit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9화면 × 3뷰포트 자동 점검 (이슈 16 → 0)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API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runbook_local.sh smoke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스모크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테스트 수행 체계 문서화 — 수행 가이드 + 둘러보기 시나리오 기록지 (docs/60_테스트/), 둘러보기 시나리오 전 구간 검증 완료</a:t>
            </a:r>
          </a:p>
          <a:p>
            <a:pPr lvl="1">
              <a:spcBef>
                <a:spcPts val="500"/>
              </a:spcBef>
              <a:spcAft>
                <a:spcPts val="20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CI 게이트 — PR 컨벤션 검사 · CHANGELOG 검사 · 반응형 점검(exit 1 게이트)</a:t>
            </a:r>
          </a:p>
          <a:p>
            <a:pPr lvl="1">
              <a:spcBef>
                <a:spcPts val="500"/>
              </a:spcBef>
              <a:spcAft>
                <a:spcPts val="20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50" b="0">
                <a:solidFill>
                  <a:srgbClr val="1F2937"/>
                </a:solidFill>
                <a:latin typeface="맑은 고딕"/>
                <a:ea typeface="맑은 고딕"/>
              </a:rPr>
              <a:t>실클러스터 검증에서 나온 결함(Harbor 프로젝트 부재 · Gitea 재배포 교착 · Argo CD 클론 주소 등)을 재현 → 수정 → CHANGELOG 기록으로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Nullus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맑은 고딕"/>
                <a:ea typeface="맑은 고딕"/>
              </a:rPr>
              <a:t>남은 과제와 알려진 제약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45309"/>
                </a:solidFill>
                <a:latin typeface="맑은 고딕"/>
                <a:ea typeface="맑은 고딕"/>
              </a:rPr>
              <a:t>남은 미구현 (8/11 재검증 기준)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3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206239"/>
                <a:gridCol w="5212080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영역</a:t>
                      </a:r>
                    </a:p>
                  </a:txBody>
                  <a:tcPr marT="18288" marB="18288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T="18288" marB="18288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영향</a:t>
                      </a:r>
                    </a:p>
                  </a:txBody>
                  <a:tcPr marT="18288" marB="18288"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설치 엔진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설치 로그 DB 영속화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API 재기동 시 로그 유실 (메모리 스트리머만 존재)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인증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/api/v1/auth REST 엔드포인트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미들웨어·프로바이더만 존재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프론트 인증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OIDC 리디렉션/콜백 런타임 연결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로컬 기본값 mock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이벤트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도메인 이벤트 기반 컨텍스트 동기화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현재 포트 직접 호출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11064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45309"/>
                </a:solidFill>
                <a:latin typeface="맑은 고딕"/>
                <a:ea typeface="맑은 고딕"/>
              </a:rPr>
              <a:t>판단이 필요한 불일치 (기록만 된 상태)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도달할 수 없는 화면 4개 — 특히 token-management-page 는 백엔드 API 9개가 있는데 화면만 끊김. 연결할지 지울지 결정 필요</a:t>
            </a:r>
          </a:p>
          <a:p>
            <a:pPr lvl="1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Developer 랜딩(/cicd/templates)과 사이드바 노출 불일치 — 한 번 벗어나면 메뉴로 못 돌아간다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400" b="1">
                <a:solidFill>
                  <a:srgbClr val="6B7280"/>
                </a:solidFill>
                <a:latin typeface="맑은 고딕"/>
                <a:ea typeface="맑은 고딕"/>
              </a:rPr>
              <a:t>운영상 제약 (의도된 것 포함)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한 클러스터에 스택 1개 (OpenBao cluster-scoped 소유권 — 의도된 차단)</a:t>
            </a:r>
          </a:p>
          <a:p>
            <a:pPr lvl="1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시크릿 평면은 항상 설치 (PostgreSQL·MinIO 가 참조)</a:t>
            </a:r>
          </a:p>
          <a:p>
            <a:pPr lvl="1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</a:rPr>
              <a:t>•  </a:t>
            </a:r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GitHub 호환성은 Phase 2 — 현재 스택 자동화는 GitLab 중심, CI/CD 는 안정화 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Nullus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맑은 고딕"/>
                <a:ea typeface="맑은 고딕"/>
              </a:rPr>
              <a:t>다음 단계 — 앞으로의 우선순위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14300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>CI/CD 안정화 마무리 (F5·F6)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Gitea+Jenkins 경로 실물 검증 결함 소진, GitLab 경로와 동등 수준으로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38528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92808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>v1.0 게이트 정의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3월 기준(테스트 ≥70% · 설치 성공률 ≥90% · 조직 검증)을 현재 상태에 맞게 재설정하고 태그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8833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42616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>불일치 해소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끊긴 화면 4개(특히 토큰 관리) 연결/제거 판단, Developer 동선 정리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38144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92424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>설치 로그 영속화 + OIDC 콜백 연결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남은 미구현 중 사용자 체감이 큰 순서로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142232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>Phase 2 (DevSecOps) 준비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</a:rPr>
              <a:t>SAST/DAST 통합 · GitHub 호환성 확장 · nullus-cli 컨셉 구체화 (문서 초안 존재)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539496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</a:rPr>
              <a:t>지금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v0.4.1 + Unreleased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0" y="5783580"/>
            <a:ext cx="41148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86200" y="539496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</a:rPr>
              <a:t>안정화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CI/CD · 불일치 해소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72200" y="5783580"/>
            <a:ext cx="41148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83680" y="539496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</a:rPr>
              <a:t>v1.0 태그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게이트 재정의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680" y="5783580"/>
            <a:ext cx="41148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1160" y="539496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  <a:ea typeface="맑은 고딕"/>
              </a:rPr>
              <a:t>Phase 2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DevSecOps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Nullus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93C5FD"/>
                </a:solidFill>
                <a:latin typeface="맑은 고딕"/>
                <a:ea typeface="맑은 고딕"/>
              </a:rPr>
              <a:t>정리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2000" b="0">
                <a:solidFill>
                  <a:srgbClr val="FFFFFF"/>
                </a:solidFill>
                <a:latin typeface="맑은 고딕"/>
                <a:ea typeface="맑은 고딕"/>
              </a:rPr>
              <a:t>Phase 1 기능은 채웠고, 8월은 쓸 수 있는 제품으로 다듬는 데 썼다.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2000" b="0">
                <a:solidFill>
                  <a:srgbClr val="FFFFFF"/>
                </a:solidFill>
                <a:latin typeface="맑은 고딕"/>
                <a:ea typeface="맑은 고딕"/>
              </a:rPr>
              <a:t>남은 것은 CI/CD 안정화와 v1.0 게이트 — 기능 추가보다 소진과 결정의 단계.</a:t>
            </a:r>
          </a:p>
          <a:p>
            <a:pPr>
              <a:spcBef>
                <a:spcPts val="400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감사합니다 —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맑은 고딕"/>
                <a:ea typeface="맑은 고딕"/>
              </a:rPr>
              <a:t>라이브 데모 cloud-nullus.github.io   ·   GitHub github.com/cloud-nullus/nullus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맑은 고딕"/>
                <a:ea typeface="맑은 고딕"/>
              </a:rPr>
              <a:t>부록 — Q&amp;A 대비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6286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예상 질문</a:t>
                      </a:r>
                    </a:p>
                  </a:txBody>
                  <a:tcPr marT="18288" marB="18288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답변 포인트</a:t>
                      </a:r>
                    </a:p>
                  </a:txBody>
                  <a:tcPr marT="18288" marB="18288">
                    <a:solidFill>
                      <a:srgbClr val="1E40A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왜 v1.0 이 아직 없나?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기능 축은 채웠지만 CI/CD 안정화·설치 성공률 실측·미구현 소진이 남았다. 게이트를 재정의한 뒤 태그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4~7월 공백은?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계획에 없던 확장에 사용 — GitHub SCM · OpenBao 시크릿 평면 · 토큰 회전. v0.3.0-alpha(7/28)로 릴리스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Jenkins 와 GitLab 경로의 차이?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트리거 모델이 다르다(job 선존재 vs push 자동 감지). 어댑터 경계에서 정규화해 상위 계층은 CI 종류를 모른다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Lite 템플릿은 프로덕션용인가?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아니다 — 단일 노드 8Gi 에서 전체 흐름을 돌려 보기 위한 것. 규모는 planning_profile 로 템플릿이 들고 다닌다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투어가 실데이터를 건드리나?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읽기(GET)만 목업으로 가로챈다. 쓰기는 가로채지 않고, 종료 시 목업 캐시를 제거한다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설정 편집으로 스택을 깨뜨릴 수 있지 않나?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플랫폼 소유 경로를 표시·경고하되 막지 않는다(전문가 탈출구). dry-run 미리보기와 스냅샷·롤백이 안전망</a:t>
                      </a:r>
                    </a:p>
                  </a:txBody>
                  <a:tcPr marT="18288" marB="18288">
                    <a:solidFill>
                      <a:srgbClr val="F3F4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다음 릴리스는 언제?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Unreleased 축적분(투어·Lite·Jenkins·OTel·Config 편집)이 커서 근시일 내 v0.5.0-alpha 예정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Nullus ·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Nullus 진행 중간공유 (2026-08)</dc:title>
  <dc:subject/>
  <dc:creator>Cloud Nullus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