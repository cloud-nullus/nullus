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04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 — 이름과 한 줄 정의, 커뮤니티 위치만.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 — 이름만 호명한다. 마크 설명은 한 문장이면 충분하다: 세 가닥이 서로를 지나며 하나로 이어지는 세잎 매듭 — 쿠버네티스 · 인프라 · 애플리케이션이 따로 놀지 않는다는 뜻. 오른쪽 한 줄로 프로젝트 성격을 닫는다.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 — 먼저 "무엇을 하는 일인지" 를 말한다. 소스부터 관측까지 20~30종을 골라 버전 맞추고 순서대로 이어 붙이는 작업. 그다음 세 카드의 제목만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 — 가운데 숫자만 말한다. 둘레 일곱 개는 "이런 축들이 물려 있다" 정도로 훑는다.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 — 이 장이 발표의 뼈대다. 길을 왼쪽 아래에서 오른쪽 위로 한 번 훑는다.
핵심 두 마디 — 첫째, 보통은 인프라 도구 · 앱 배포 도구 · 관측 도구를 따로 붙여야 하는데(점선 세 구간) Nullus 는 전 구간을 하나로 지원한다(파란 바).
둘째, 표준 경로를 강제하지 않는다 — 도구 교체 · 규모 프로파일 · 단계 비활성 · YAML 직접 편집으로 조직 사정에 맞춘다. Golden Path 는 권장 경로이지 잠금이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 — 아이콘을 하나씩 읽지 않는다. "이 정도 규모를 한 스택으로 묶는다" 만 전달하고, 아래 템플릿 6종으로 닫는다.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 — 02 를 짚는다. "노트북에서도 같은 스택이 뜹니다 — 크기를 자동으로 다시 계산합니다."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 — 초록 배지를 손으로 짚는다. "Matched matrix: Gitea + Jenkins + Argo CD (verified)" 가 판정 근거다. 실패하면 이 자리가 빨간 FAIL 로 바뀌고 배포 버튼이 동작하지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— 카드 제목만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 — 사다리를 위에서 아래로 읽어 의존의 깊이를 보여주고, 마지막 밴드로 닫는다: 이 순서를 사람이 기억하지 않고 엔진이 매번 산출한다. 실패 시나리오(20분 뒤 노출)는 앞의 문제 장표에서 이미 말했으므로 여기서 반복하지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 — 04 아키텍처 검증 예시를 말로 설명한다. 같은 불일치라도 검증된 조합에서는 차단, 미검증에서는 경고 — 판정이 이유를 갖는다.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— 막대 두 개만 짚는다. 위는 러너 2배, 아래는 그때 실제로 늘어나는 자원 1.27배. 점선이 선형으로 계산했을 때의 크기다. 이 차이가 과다 산정을 막는다.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 — 위 세 개는 차이만 말한다(전량 되돌림 / 실패 스텝만 / 다음부터). 아래는 04 도착 대기 하나만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— 동심원을 바깥에서 안으로 짚는다. 바깥이 컨트롤 플레인, 가운데가 고객 클러스터의 시크릿 저장소, 안이 워크로드가 쓰는 파생 Secret.
[슬라이드에 없는 한계 — 질문 시에만] unseal key 는 대상 클러스터 K8s Secret 에 두므로 그 클러스터가 침해되면 시크릿 저장소도 함께 열린다. KMS 를 전제할 수 없는 온프레미스 지원을 위해 감수한 선택이며, resourceNames RBAC · 오프라인 백업 · 조회 감사로 완화하고 KMS 옵션은 배포 구조 변경 없이 추가 가능하다.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 — 로컬 검증만 하는 것이 아니라는 점. 2클러스터를 둔 이유(멀티 클러스터 동선)까지.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— 제목 세 줄만 읽는다. 01 이 가장 큰 차이다 — 인프라 구축 도구와 앱 배포 도구를 따로 쓰지 않아도 된다는 점. 02 는 실무자가 가장 공감하는 지점이라 질문이 나오면 여기서 풀어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 — 마일스톤 네 개만. 2026 은 완성과 검증, 2027 은 고도화.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 — 마무리. 상세는 정식본(35장)으로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ullus.i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1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5" Type="http://schemas.openxmlformats.org/officeDocument/2006/relationships/image" Target="../media/image11.png"/><Relationship Id="rId10" Type="http://schemas.openxmlformats.org/officeDocument/2006/relationships/image" Target="../media/image24.png"/><Relationship Id="rId19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23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5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loud-nullus/nullus" TargetMode="External"/><Relationship Id="rId3" Type="http://schemas.openxmlformats.org/officeDocument/2006/relationships/image" Target="../media/image38.png"/><Relationship Id="rId7" Type="http://schemas.openxmlformats.org/officeDocument/2006/relationships/hyperlink" Target="https://cloud-nullus.github.io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loud-nullus.github.io/login%20or%20nullus.io" TargetMode="External"/><Relationship Id="rId5" Type="http://schemas.openxmlformats.org/officeDocument/2006/relationships/image" Target="../media/image21.png"/><Relationship Id="rId4" Type="http://schemas.openxmlformats.org/officeDocument/2006/relationships/hyperlink" Target="https://nullus.io" TargetMode="External"/><Relationship Id="rId9" Type="http://schemas.openxmlformats.org/officeDocument/2006/relationships/hyperlink" Target="https://github.com/cloud-nullus/nullus#quick-sta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30" y="742950"/>
            <a:ext cx="5372100" cy="5372100"/>
          </a:xfrm>
          <a:prstGeom prst="ellipse">
            <a:avLst/>
          </a:prstGeom>
          <a:solidFill>
            <a:srgbClr val="2A2A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private/tmp/claude-501/-Users-devlos-Desktop-project-draft/13e1ea6e-9b46-48b5-a623-9e7b0b3e29a4/scratchpad/deck/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19220"/>
            <a:ext cx="3619470" cy="36194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2171700"/>
            <a:ext cx="609603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kern="0" spc="-28" dirty="0" err="1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r>
              <a:rPr lang="ko-KR" altLang="en-US" sz="4200" kern="0" spc="-28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altLang="ko-KR" sz="4200" kern="0" spc="-28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61970" y="2990820"/>
            <a:ext cx="60960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100" kern="0" spc="20" dirty="0">
                <a:solidFill>
                  <a:srgbClr val="CCCCC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Kubernetes 기반</a:t>
            </a:r>
            <a:endParaRPr lang="en-US" sz="2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100" kern="0" spc="20" dirty="0">
                <a:solidFill>
                  <a:srgbClr val="CCCCC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DevSecOps 파이프라인 자동 구축 플랫폼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761970" y="3943350"/>
            <a:ext cx="2552730" cy="30477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61970" y="4010010"/>
            <a:ext cx="2552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CloudBro </a:t>
            </a:r>
            <a:r>
              <a:rPr lang="en-US" sz="1050" kern="0" spc="-22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커뮤니티</a:t>
            </a:r>
            <a:r>
              <a:rPr lang="en-US" sz="1050" kern="0" spc="-2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Core 프로젝트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1970" y="4552980"/>
            <a:ext cx="1143000" cy="0"/>
          </a:xfrm>
          <a:prstGeom prst="line">
            <a:avLst/>
          </a:prstGeom>
          <a:noFill/>
          <a:ln w="25400">
            <a:solidFill>
              <a:srgbClr val="299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61970" y="4762470"/>
            <a:ext cx="6096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</a:t>
            </a:r>
            <a:r>
              <a:rPr lang="en-US" sz="1275" kern="0" spc="-37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중간보</a:t>
            </a:r>
            <a:r>
              <a:rPr lang="ko-KR" altLang="en-US" sz="1275" kern="0" spc="-37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761970" y="5048220"/>
            <a:ext cx="6096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kern="0" spc="-22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4" tooltip="Nullus 공식 사이트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nullus.io</a:t>
            </a:r>
            <a:r>
              <a:rPr lang="en-US" sz="1050" kern="0" spc="-22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·   Apache 2.0   ·   v0.4.1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835640" y="6391656"/>
            <a:ext cx="59436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CCCC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Cloud Nullus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CloudBro 커뮤니티 코어 프로젝트 · 6인</a:t>
            </a:r>
            <a:endParaRPr lang="en-US" sz="1575" dirty="0"/>
          </a:p>
        </p:txBody>
      </p:sp>
      <p:pic>
        <p:nvPicPr>
          <p:cNvPr id="5" name="Image 0" descr="/private/tmp/claude-501/-Users-devlos-Desktop-project-draft/13e1ea6e-9b46-48b5-a623-9e7b0b3e29a4/scratchpad/deck/icons/ui-team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70482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970" y="2343150"/>
            <a:ext cx="1333470" cy="1333470"/>
          </a:xfrm>
          <a:prstGeom prst="roundRect">
            <a:avLst>
              <a:gd name="adj" fmla="val 99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" y="2495580"/>
            <a:ext cx="1028700" cy="1028700"/>
          </a:xfrm>
          <a:prstGeom prst="roundRect">
            <a:avLst>
              <a:gd name="adj" fmla="val 373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61970" y="2914604"/>
            <a:ext cx="13334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LinkedIn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1970" y="3067035"/>
            <a:ext cx="1333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1970" y="3809939"/>
            <a:ext cx="1333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박준희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2628882" y="2343150"/>
            <a:ext cx="1333470" cy="1333470"/>
          </a:xfrm>
          <a:prstGeom prst="roundRect">
            <a:avLst>
              <a:gd name="adj" fmla="val 99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781312" y="2495580"/>
            <a:ext cx="1028700" cy="1028700"/>
          </a:xfrm>
          <a:prstGeom prst="roundRect">
            <a:avLst>
              <a:gd name="adj" fmla="val 373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628882" y="2914604"/>
            <a:ext cx="13334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LinkedIn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628882" y="3067035"/>
            <a:ext cx="1333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628882" y="3809939"/>
            <a:ext cx="1333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허유정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4495794" y="2343150"/>
            <a:ext cx="1333470" cy="1333470"/>
          </a:xfrm>
          <a:prstGeom prst="roundRect">
            <a:avLst>
              <a:gd name="adj" fmla="val 99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648224" y="2495580"/>
            <a:ext cx="1028700" cy="1028700"/>
          </a:xfrm>
          <a:prstGeom prst="roundRect">
            <a:avLst>
              <a:gd name="adj" fmla="val 373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495794" y="2914604"/>
            <a:ext cx="13334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LinkedIn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495794" y="3067035"/>
            <a:ext cx="1333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495794" y="3809939"/>
            <a:ext cx="1333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이기하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6362706" y="2343150"/>
            <a:ext cx="1333470" cy="1333470"/>
          </a:xfrm>
          <a:prstGeom prst="roundRect">
            <a:avLst>
              <a:gd name="adj" fmla="val 99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515137" y="2495580"/>
            <a:ext cx="1028700" cy="1028700"/>
          </a:xfrm>
          <a:prstGeom prst="roundRect">
            <a:avLst>
              <a:gd name="adj" fmla="val 373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362706" y="2914604"/>
            <a:ext cx="13334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LinkedIn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62706" y="3067035"/>
            <a:ext cx="1333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62706" y="3809939"/>
            <a:ext cx="1333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정규민</a:t>
            </a:r>
            <a:endParaRPr lang="en-US" sz="1275" dirty="0"/>
          </a:p>
        </p:txBody>
      </p:sp>
      <p:sp>
        <p:nvSpPr>
          <p:cNvPr id="26" name="Shape 23"/>
          <p:cNvSpPr/>
          <p:nvPr/>
        </p:nvSpPr>
        <p:spPr>
          <a:xfrm>
            <a:off x="8229618" y="2343150"/>
            <a:ext cx="1333470" cy="1333470"/>
          </a:xfrm>
          <a:prstGeom prst="roundRect">
            <a:avLst>
              <a:gd name="adj" fmla="val 99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8382049" y="2495580"/>
            <a:ext cx="1028700" cy="1028700"/>
          </a:xfrm>
          <a:prstGeom prst="roundRect">
            <a:avLst>
              <a:gd name="adj" fmla="val 373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8229618" y="2914604"/>
            <a:ext cx="13334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LinkedIn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229618" y="3067035"/>
            <a:ext cx="1333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229618" y="3809939"/>
            <a:ext cx="1333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장미영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10096530" y="2343150"/>
            <a:ext cx="1333470" cy="1333470"/>
          </a:xfrm>
          <a:prstGeom prst="roundRect">
            <a:avLst>
              <a:gd name="adj" fmla="val 99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248961" y="2495580"/>
            <a:ext cx="1028700" cy="1028700"/>
          </a:xfrm>
          <a:prstGeom prst="roundRect">
            <a:avLst>
              <a:gd name="adj" fmla="val 373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096530" y="2914604"/>
            <a:ext cx="13334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LinkedIn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96530" y="3067035"/>
            <a:ext cx="1333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096530" y="3809939"/>
            <a:ext cx="1333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고동환</a:t>
            </a:r>
            <a:endParaRPr lang="en-US" sz="1275" dirty="0"/>
          </a:p>
        </p:txBody>
      </p:sp>
      <p:sp>
        <p:nvSpPr>
          <p:cNvPr id="36" name="Text 33"/>
          <p:cNvSpPr/>
          <p:nvPr/>
        </p:nvSpPr>
        <p:spPr>
          <a:xfrm>
            <a:off x="761970" y="4152930"/>
            <a:ext cx="10668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LinkedIn 프로필 — QR 스캔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61970" y="4686300"/>
            <a:ext cx="3810030" cy="1333470"/>
          </a:xfrm>
          <a:prstGeom prst="roundRect">
            <a:avLst>
              <a:gd name="adj" fmla="val 20003"/>
            </a:avLst>
          </a:prstGeom>
          <a:solidFill>
            <a:srgbClr val="2A2A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" descr="/private/tmp/claude-501/-Users-devlos-Desktop-project-draft/13e1ea6e-9b46-48b5-a623-9e7b0b3e29a4/scratchpad/deck/mark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991070"/>
            <a:ext cx="685800" cy="68580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904970" y="4953030"/>
            <a:ext cx="2438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세잎 매듭 (trefoil)</a:t>
            </a:r>
            <a:endParaRPr lang="en-US" sz="1275" dirty="0"/>
          </a:p>
        </p:txBody>
      </p:sp>
      <p:sp>
        <p:nvSpPr>
          <p:cNvPr id="40" name="Text 36"/>
          <p:cNvSpPr/>
          <p:nvPr/>
        </p:nvSpPr>
        <p:spPr>
          <a:xfrm>
            <a:off x="1904970" y="5219670"/>
            <a:ext cx="259082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kern="0" spc="-22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가닥이 서로를 지나 하나로 이어짐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kern="0" spc="-22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쿠버네티스 · 인프라 · 애플리케이션이 한 흐름으로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4914900" y="4686300"/>
            <a:ext cx="6515100" cy="1333470"/>
          </a:xfrm>
          <a:prstGeom prst="roundRect">
            <a:avLst>
              <a:gd name="adj" fmla="val 200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/>
          <p:nvPr/>
        </p:nvSpPr>
        <p:spPr>
          <a:xfrm>
            <a:off x="5219670" y="4991070"/>
            <a:ext cx="590547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-37" dirty="0">
                <a:solidFill>
                  <a:srgbClr val="0070C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개별 조직이 반복하던 파이프라인 구축을 커뮤니티 </a:t>
            </a:r>
            <a:r>
              <a:rPr lang="en-US" sz="1600" kern="0" spc="-37" dirty="0" err="1">
                <a:solidFill>
                  <a:srgbClr val="0070C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공동</a:t>
            </a:r>
            <a:r>
              <a:rPr lang="en-US" sz="1600" kern="0" spc="-37" dirty="0">
                <a:solidFill>
                  <a:srgbClr val="0070C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sz="1600" kern="0" spc="-37" dirty="0" err="1">
                <a:solidFill>
                  <a:srgbClr val="0070C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자산으로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43" name="Text 39"/>
          <p:cNvSpPr/>
          <p:nvPr/>
        </p:nvSpPr>
        <p:spPr>
          <a:xfrm>
            <a:off x="5219670" y="5391120"/>
            <a:ext cx="590547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OSS 조합과 설치 순서를 코드와 데이터로 공개 · Apache 2.0</a:t>
            </a:r>
            <a:endParaRPr lang="en-US" sz="1275" dirty="0"/>
          </a:p>
        </p:txBody>
      </p:sp>
      <p:sp>
        <p:nvSpPr>
          <p:cNvPr id="44" name="Text 40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18</a:t>
            </a:r>
            <a:endParaRPr lang="en-US" sz="900" dirty="0"/>
          </a:p>
        </p:txBody>
      </p:sp>
      <p:pic>
        <p:nvPicPr>
          <p:cNvPr id="45" name="Image 2" descr="/private/tmp/claude-501/-Users-devlos-Desktop-project-draft/13e1ea6e-9b46-48b5-a623-9e7b0b3e29a4/scratchpad/deck/mark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CCCC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137CC8C-1C48-9A73-3938-3840B926DD49}"/>
              </a:ext>
            </a:extLst>
          </p:cNvPr>
          <p:cNvSpPr/>
          <p:nvPr/>
        </p:nvSpPr>
        <p:spPr>
          <a:xfrm rot="312591">
            <a:off x="9032789" y="284205"/>
            <a:ext cx="2310714" cy="3459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하단 폰트크기 수정 </a:t>
            </a:r>
            <a:r>
              <a:rPr kumimoji="1" lang="en-US" altLang="ko-KR" dirty="0">
                <a:solidFill>
                  <a:schemeClr val="tx1"/>
                </a:solidFill>
              </a:rPr>
              <a:t>-&gt;</a:t>
            </a:r>
            <a:r>
              <a:rPr kumimoji="1" lang="ko-KR" altLang="en-US" dirty="0">
                <a:solidFill>
                  <a:schemeClr val="tx1"/>
                </a:solidFill>
              </a:rPr>
              <a:t> </a:t>
            </a:r>
            <a:r>
              <a:rPr kumimoji="1" lang="ko-KR" altLang="en-US" dirty="0" err="1">
                <a:solidFill>
                  <a:schemeClr val="tx1"/>
                </a:solidFill>
              </a:rPr>
              <a:t>한줄에</a:t>
            </a:r>
            <a:r>
              <a:rPr kumimoji="1" lang="ko-KR" altLang="en-US" dirty="0">
                <a:solidFill>
                  <a:schemeClr val="tx1"/>
                </a:solidFill>
              </a:rPr>
              <a:t> 보이도록 </a:t>
            </a:r>
            <a:r>
              <a:rPr kumimoji="1" lang="en-US" altLang="ko-KR" dirty="0">
                <a:solidFill>
                  <a:schemeClr val="tx1"/>
                </a:solidFill>
              </a:rPr>
              <a:t>“</a:t>
            </a:r>
            <a:r>
              <a:rPr kumimoji="1" lang="ko-KR" altLang="en-US" dirty="0">
                <a:solidFill>
                  <a:schemeClr val="tx1"/>
                </a:solidFill>
              </a:rPr>
              <a:t>개별 조직</a:t>
            </a:r>
            <a:r>
              <a:rPr kumimoji="1" lang="en-US" altLang="ko-KR" dirty="0">
                <a:solidFill>
                  <a:schemeClr val="tx1"/>
                </a:solidFill>
              </a:rPr>
              <a:t>…”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· 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DevSecOps 파이프라인 구축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오래 걸리게 만드는가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761970" y="1943100"/>
            <a:ext cx="10668030" cy="1219170"/>
          </a:xfrm>
          <a:prstGeom prst="roundRect">
            <a:avLst>
              <a:gd name="adj" fmla="val 218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04870" y="2190720"/>
            <a:ext cx="99822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소스 · 빌드 · 배포 · 레지스트리 · 관측 · 인증을 하나로 잇는 일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04870" y="2628900"/>
            <a:ext cx="9982230" cy="380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OSS 20~30종을 골라 버전을 맞추고 순서대로 설치해 서로 연동시키는 작업 — 현장에서 6~18개월 소요</a:t>
            </a:r>
            <a:endParaRPr lang="en-US" sz="1275" dirty="0"/>
          </a:p>
        </p:txBody>
      </p:sp>
      <p:pic>
        <p:nvPicPr>
          <p:cNvPr id="8" name="Image 0" descr="/private/tmp/claude-501/-Users-devlos-Desktop-project-draft/13e1ea6e-9b46-48b5-a623-9e7b0b3e29a4/scratchpad/deck/icons/git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40" y="3276570"/>
            <a:ext cx="381030" cy="381030"/>
          </a:xfrm>
          <a:prstGeom prst="rect">
            <a:avLst/>
          </a:prstGeom>
        </p:spPr>
      </p:pic>
      <p:pic>
        <p:nvPicPr>
          <p:cNvPr id="9" name="Image 1" descr="/private/tmp/claude-501/-Users-devlos-Desktop-project-draft/13e1ea6e-9b46-48b5-a623-9e7b0b3e29a4/scratchpad/deck/icons/git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930" y="3276570"/>
            <a:ext cx="381030" cy="381030"/>
          </a:xfrm>
          <a:prstGeom prst="rect">
            <a:avLst/>
          </a:prstGeom>
        </p:spPr>
      </p:pic>
      <p:pic>
        <p:nvPicPr>
          <p:cNvPr id="10" name="Image 2" descr="/private/tmp/claude-501/-Users-devlos-Desktop-project-draft/13e1ea6e-9b46-48b5-a623-9e7b0b3e29a4/scratchpad/deck/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020" y="3276570"/>
            <a:ext cx="381030" cy="381030"/>
          </a:xfrm>
          <a:prstGeom prst="rect">
            <a:avLst/>
          </a:prstGeom>
        </p:spPr>
      </p:pic>
      <p:pic>
        <p:nvPicPr>
          <p:cNvPr id="11" name="Image 3" descr="/private/tmp/claude-501/-Users-devlos-Desktop-project-draft/13e1ea6e-9b46-48b5-a623-9e7b0b3e29a4/scratchpad/deck/icons/jenki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5110" y="3276570"/>
            <a:ext cx="381030" cy="381030"/>
          </a:xfrm>
          <a:prstGeom prst="rect">
            <a:avLst/>
          </a:prstGeom>
        </p:spPr>
      </p:pic>
      <p:pic>
        <p:nvPicPr>
          <p:cNvPr id="12" name="Image 4" descr="/private/tmp/claude-501/-Users-devlos-Desktop-project-draft/13e1ea6e-9b46-48b5-a623-9e7b0b3e29a4/scratchpad/deck/icons/ar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5200" y="3276570"/>
            <a:ext cx="381030" cy="381030"/>
          </a:xfrm>
          <a:prstGeom prst="rect">
            <a:avLst/>
          </a:prstGeom>
        </p:spPr>
      </p:pic>
      <p:pic>
        <p:nvPicPr>
          <p:cNvPr id="13" name="Image 5" descr="/private/tmp/claude-501/-Users-devlos-Desktop-project-draft/13e1ea6e-9b46-48b5-a623-9e7b0b3e29a4/scratchpad/deck/icons/harb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290" y="3276570"/>
            <a:ext cx="381030" cy="381030"/>
          </a:xfrm>
          <a:prstGeom prst="rect">
            <a:avLst/>
          </a:prstGeom>
        </p:spPr>
      </p:pic>
      <p:pic>
        <p:nvPicPr>
          <p:cNvPr id="14" name="Image 6" descr="/private/tmp/claude-501/-Users-devlos-Desktop-project-draft/13e1ea6e-9b46-48b5-a623-9e7b0b3e29a4/scratchpad/deck/icons/sonatyp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5380" y="3276570"/>
            <a:ext cx="381030" cy="381030"/>
          </a:xfrm>
          <a:prstGeom prst="rect">
            <a:avLst/>
          </a:prstGeom>
        </p:spPr>
      </p:pic>
      <p:pic>
        <p:nvPicPr>
          <p:cNvPr id="15" name="Image 7" descr="/private/tmp/claude-501/-Users-devlos-Desktop-project-draft/13e1ea6e-9b46-48b5-a623-9e7b0b3e29a4/scratchpad/deck/icons/mini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470" y="3276570"/>
            <a:ext cx="381030" cy="381030"/>
          </a:xfrm>
          <a:prstGeom prst="rect">
            <a:avLst/>
          </a:prstGeom>
        </p:spPr>
      </p:pic>
      <p:pic>
        <p:nvPicPr>
          <p:cNvPr id="16" name="Image 8" descr="/private/tmp/claude-501/-Users-devlos-Desktop-project-draft/13e1ea6e-9b46-48b5-a623-9e7b0b3e29a4/scratchpad/deck/icons/openba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5560" y="3276570"/>
            <a:ext cx="381030" cy="381030"/>
          </a:xfrm>
          <a:prstGeom prst="rect">
            <a:avLst/>
          </a:prstGeom>
        </p:spPr>
      </p:pic>
      <p:pic>
        <p:nvPicPr>
          <p:cNvPr id="17" name="Image 9" descr="/private/tmp/claude-501/-Users-devlos-Desktop-project-draft/13e1ea6e-9b46-48b5-a623-9e7b0b3e29a4/scratchpad/deck/icons/prometheu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5650" y="3276570"/>
            <a:ext cx="381030" cy="381030"/>
          </a:xfrm>
          <a:prstGeom prst="rect">
            <a:avLst/>
          </a:prstGeom>
        </p:spPr>
      </p:pic>
      <p:pic>
        <p:nvPicPr>
          <p:cNvPr id="18" name="Image 10" descr="/private/tmp/claude-501/-Users-devlos-Desktop-project-draft/13e1ea6e-9b46-48b5-a623-9e7b0b3e29a4/scratchpad/deck/icons/grafan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5740" y="3276570"/>
            <a:ext cx="381030" cy="381030"/>
          </a:xfrm>
          <a:prstGeom prst="rect">
            <a:avLst/>
          </a:prstGeom>
        </p:spPr>
      </p:pic>
      <p:pic>
        <p:nvPicPr>
          <p:cNvPr id="19" name="Image 11" descr="/private/tmp/claude-501/-Users-devlos-Desktop-project-draft/13e1ea6e-9b46-48b5-a623-9e7b0b3e29a4/scratchpad/deck/icons/opensearc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85830" y="3276570"/>
            <a:ext cx="381030" cy="381030"/>
          </a:xfrm>
          <a:prstGeom prst="rect">
            <a:avLst/>
          </a:prstGeom>
        </p:spPr>
      </p:pic>
      <p:pic>
        <p:nvPicPr>
          <p:cNvPr id="20" name="Image 12" descr="/private/tmp/claude-501/-Users-devlos-Desktop-project-draft/13e1ea6e-9b46-48b5-a623-9e7b0b3e29a4/scratchpad/deck/icons/opentelemetr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5920" y="3276570"/>
            <a:ext cx="381030" cy="381030"/>
          </a:xfrm>
          <a:prstGeom prst="rect">
            <a:avLst/>
          </a:prstGeom>
        </p:spPr>
      </p:pic>
      <p:pic>
        <p:nvPicPr>
          <p:cNvPr id="21" name="Image 13" descr="/private/tmp/claude-501/-Users-devlos-Desktop-project-draft/13e1ea6e-9b46-48b5-a623-9e7b0b3e29a4/scratchpad/deck/icons/docke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26010" y="3276570"/>
            <a:ext cx="381030" cy="381030"/>
          </a:xfrm>
          <a:prstGeom prst="rect">
            <a:avLst/>
          </a:prstGeom>
        </p:spPr>
      </p:pic>
      <p:pic>
        <p:nvPicPr>
          <p:cNvPr id="22" name="Image 14" descr="/private/tmp/claude-501/-Users-devlos-Desktop-project-draft/13e1ea6e-9b46-48b5-a623-9e7b0b3e29a4/scratchpad/deck/icons/kubernete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46100" y="3276570"/>
            <a:ext cx="381030" cy="381030"/>
          </a:xfrm>
          <a:prstGeom prst="rect">
            <a:avLst/>
          </a:prstGeom>
        </p:spPr>
      </p:pic>
      <p:sp>
        <p:nvSpPr>
          <p:cNvPr id="23" name="Shape 6"/>
          <p:cNvSpPr/>
          <p:nvPr/>
        </p:nvSpPr>
        <p:spPr>
          <a:xfrm>
            <a:off x="761970" y="3810030"/>
            <a:ext cx="3378190" cy="2286000"/>
          </a:xfrm>
          <a:prstGeom prst="roundRect">
            <a:avLst>
              <a:gd name="adj" fmla="val 116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5" descr="/private/tmp/claude-501/-Users-devlos-Desktop-project-draft/13e1ea6e-9b46-48b5-a623-9e7b0b3e29a4/scratchpad/deck/icons/ui-unknown-blu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54359" y="4057650"/>
            <a:ext cx="381030" cy="38103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066739" y="405765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선택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1066739" y="432438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검증된 조합 부재</a:t>
            </a:r>
            <a:endParaRPr lang="en-US" sz="1575" dirty="0"/>
          </a:p>
        </p:txBody>
      </p:sp>
      <p:sp>
        <p:nvSpPr>
          <p:cNvPr id="27" name="Text 9"/>
          <p:cNvSpPr/>
          <p:nvPr/>
        </p:nvSpPr>
        <p:spPr>
          <a:xfrm>
            <a:off x="1066739" y="4667280"/>
            <a:ext cx="2912408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CNCF 200+ 프로젝트 · 어떤 조합이 안전하게 동작하는지 아는 주체가 없음</a:t>
            </a: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— Argo CD 를 올리자 GitLab 연동이 파손</a:t>
            </a:r>
            <a:endParaRPr lang="en-US" sz="1275" dirty="0"/>
          </a:p>
        </p:txBody>
      </p:sp>
      <p:sp>
        <p:nvSpPr>
          <p:cNvPr id="28" name="Shape 10"/>
          <p:cNvSpPr/>
          <p:nvPr/>
        </p:nvSpPr>
        <p:spPr>
          <a:xfrm>
            <a:off x="4406890" y="3810030"/>
            <a:ext cx="3378190" cy="2286000"/>
          </a:xfrm>
          <a:prstGeom prst="roundRect">
            <a:avLst>
              <a:gd name="adj" fmla="val 11668"/>
            </a:avLst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6" descr="/private/tmp/claude-501/-Users-devlos-Desktop-project-draft/13e1ea6e-9b46-48b5-a623-9e7b0b3e29a4/scratchpad/deck/icons/ui-clock-whi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99280" y="4057650"/>
            <a:ext cx="381030" cy="381030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4711659" y="405765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4711659" y="432438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지연 실패</a:t>
            </a:r>
            <a:endParaRPr lang="en-US" sz="1575" dirty="0"/>
          </a:p>
        </p:txBody>
      </p:sp>
      <p:sp>
        <p:nvSpPr>
          <p:cNvPr id="32" name="Text 13"/>
          <p:cNvSpPr/>
          <p:nvPr/>
        </p:nvSpPr>
        <p:spPr>
          <a:xfrm>
            <a:off x="4711659" y="4777808"/>
            <a:ext cx="2844701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순서 의존이 겹쳐 있어, 한 칸 틀리면 20분 뒤 다른 단계에서 드러남</a:t>
            </a: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— StorageClass 미지정 → 저장소 미기동 → DB 미기동</a:t>
            </a:r>
            <a:endParaRPr lang="en-US" sz="1275" dirty="0"/>
          </a:p>
        </p:txBody>
      </p:sp>
      <p:sp>
        <p:nvSpPr>
          <p:cNvPr id="33" name="Shape 14"/>
          <p:cNvSpPr/>
          <p:nvPr/>
        </p:nvSpPr>
        <p:spPr>
          <a:xfrm>
            <a:off x="8051810" y="3810030"/>
            <a:ext cx="3378190" cy="2286000"/>
          </a:xfrm>
          <a:prstGeom prst="roundRect">
            <a:avLst>
              <a:gd name="adj" fmla="val 116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7" descr="/private/tmp/claude-501/-Users-devlos-Desktop-project-draft/13e1ea6e-9b46-48b5-a623-9e7b0b3e29a4/scratchpad/deck/icons/ui-record-blu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44200" y="4057650"/>
            <a:ext cx="381030" cy="381030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8356580" y="405765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전수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8356580" y="432438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인수인계 불가</a:t>
            </a:r>
            <a:endParaRPr lang="en-US" sz="1575" dirty="0"/>
          </a:p>
        </p:txBody>
      </p:sp>
      <p:sp>
        <p:nvSpPr>
          <p:cNvPr id="37" name="Text 17"/>
          <p:cNvSpPr/>
          <p:nvPr/>
        </p:nvSpPr>
        <p:spPr>
          <a:xfrm>
            <a:off x="8356580" y="4667280"/>
            <a:ext cx="2877477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절차가 스크립트에만 남아 팀·담당이 바뀌면 해독부터 다시 시작</a:t>
            </a: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— 같은 </a:t>
            </a:r>
            <a:r>
              <a:rPr lang="en-US" sz="1275" kern="0" spc="-37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</a:t>
            </a: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75" kern="0" spc="-37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안에서도</a:t>
            </a: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팀마다 다른 설치 절차</a:t>
            </a:r>
            <a:endParaRPr lang="en-US" sz="1275" dirty="0"/>
          </a:p>
        </p:txBody>
      </p:sp>
      <p:sp>
        <p:nvSpPr>
          <p:cNvPr id="38" name="Text 18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18</a:t>
            </a:r>
            <a:endParaRPr lang="en-US" sz="900" dirty="0"/>
          </a:p>
        </p:txBody>
      </p:sp>
      <p:pic>
        <p:nvPicPr>
          <p:cNvPr id="39" name="Image 18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40" name="Text 19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· 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복잡도 정량화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DevSecOps 파이프라인 </a:t>
            </a:r>
            <a:r>
              <a:rPr lang="en-US" sz="1575" kern="0" spc="23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1식 구성</a:t>
            </a: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필요한 결정 항목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3448020" y="3276570"/>
            <a:ext cx="1600200" cy="1600200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448020" y="371475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kern="0" spc="-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48020" y="419097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항목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90920" y="1981139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90920" y="2209739"/>
            <a:ext cx="9144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20+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3790920" y="2476470"/>
            <a:ext cx="914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1818" y="2597987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71818" y="2826587"/>
            <a:ext cx="9144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×4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071818" y="3093318"/>
            <a:ext cx="914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88174" y="3984032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88174" y="4212632"/>
            <a:ext cx="9144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29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388174" y="4479363"/>
            <a:ext cx="914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스텝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01764" y="5095554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01764" y="5324154"/>
            <a:ext cx="9144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33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4501764" y="5590885"/>
            <a:ext cx="914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 문항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80075" y="5095554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080075" y="5324154"/>
            <a:ext cx="9144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7+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3080075" y="5590885"/>
            <a:ext cx="914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시크릿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3665" y="3984032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193665" y="4212632"/>
            <a:ext cx="9144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73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2193665" y="4479363"/>
            <a:ext cx="914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0021" y="2597987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510021" y="2826587"/>
            <a:ext cx="9144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23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2510021" y="3093318"/>
            <a:ext cx="914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절차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10430" y="1943100"/>
            <a:ext cx="4535126" cy="1866930"/>
          </a:xfrm>
          <a:prstGeom prst="roundRect">
            <a:avLst>
              <a:gd name="adj" fmla="val 142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15200" y="2190720"/>
            <a:ext cx="3810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세었나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2457450"/>
            <a:ext cx="3810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0070C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스택 1식</a:t>
            </a: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요구하는 결정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7315200" y="2800350"/>
            <a:ext cx="411480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선택 · 버전 조합 · 설치 순서 · 자원 규모 · 시크릿 경로 · 오프라인 반입 · 설치 절차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7010430" y="4000500"/>
            <a:ext cx="4535126" cy="2095530"/>
          </a:xfrm>
          <a:prstGeom prst="roundRect">
            <a:avLst>
              <a:gd name="adj" fmla="val 127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315200" y="4248120"/>
            <a:ext cx="3810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문제인가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0" y="4514850"/>
            <a:ext cx="3810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항목이 서로 물려 있음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7315200" y="4857750"/>
            <a:ext cx="4114800" cy="100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하나를 바꾸면 다른 항목이 따라 바뀌므로 개별 판단이 성립하지 않음</a:t>
            </a: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조직마다 사람이 매번 다시 결정하는 구조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18</a:t>
            </a:r>
            <a:endParaRPr lang="en-US" sz="900" dirty="0"/>
          </a:p>
        </p:txBody>
      </p:sp>
      <p:pic>
        <p:nvPicPr>
          <p:cNvPr id="38" name="Image 0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E3EC5E-251F-E6FC-BB56-7AEFAA7A41C5}"/>
              </a:ext>
            </a:extLst>
          </p:cNvPr>
          <p:cNvSpPr/>
          <p:nvPr/>
        </p:nvSpPr>
        <p:spPr>
          <a:xfrm rot="312591">
            <a:off x="8988945" y="300623"/>
            <a:ext cx="2715445" cy="12932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스택 </a:t>
            </a:r>
            <a:r>
              <a:rPr kumimoji="1" lang="en-US" altLang="ko-KR" dirty="0">
                <a:solidFill>
                  <a:schemeClr val="tx1"/>
                </a:solidFill>
              </a:rPr>
              <a:t>1</a:t>
            </a:r>
            <a:r>
              <a:rPr kumimoji="1" lang="ko-KR" altLang="en-US" dirty="0">
                <a:solidFill>
                  <a:schemeClr val="tx1"/>
                </a:solidFill>
              </a:rPr>
              <a:t>식</a:t>
            </a:r>
            <a:r>
              <a:rPr kumimoji="1" lang="en-US" altLang="ko-KR" dirty="0">
                <a:solidFill>
                  <a:schemeClr val="tx1"/>
                </a:solidFill>
              </a:rPr>
              <a:t>,</a:t>
            </a:r>
            <a:r>
              <a:rPr kumimoji="1" lang="ko-KR" altLang="en-US" dirty="0">
                <a:solidFill>
                  <a:schemeClr val="tx1"/>
                </a:solidFill>
              </a:rPr>
              <a:t> 파이프라인 </a:t>
            </a:r>
            <a:r>
              <a:rPr kumimoji="1" lang="en-US" altLang="ko-KR" dirty="0">
                <a:solidFill>
                  <a:schemeClr val="tx1"/>
                </a:solidFill>
              </a:rPr>
              <a:t>1</a:t>
            </a:r>
            <a:r>
              <a:rPr kumimoji="1" lang="ko-KR" altLang="en-US" dirty="0">
                <a:solidFill>
                  <a:schemeClr val="tx1"/>
                </a:solidFill>
              </a:rPr>
              <a:t>식 보완설명이 있으면 좋겠습니다</a:t>
            </a:r>
            <a:r>
              <a:rPr kumimoji="1" lang="en-US" altLang="ko-KR" dirty="0">
                <a:solidFill>
                  <a:schemeClr val="tx1"/>
                </a:solidFill>
              </a:rPr>
              <a:t>.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· 해답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프로세스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클러스터 등록부터 로깅·모니터링까지 — 한 제품에서 이어지는 7단계</a:t>
            </a:r>
            <a:endParaRPr lang="en-US" sz="1575" dirty="0"/>
          </a:p>
        </p:txBody>
      </p:sp>
      <p:pic>
        <p:nvPicPr>
          <p:cNvPr id="5" name="Image 0" descr="/private/tmp/claude-501/-Users-devlos-Desktop-project-draft/13e1ea6e-9b46-48b5-a623-9e7b0b3e29a4/scratchpad/deck/r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70" y="2247870"/>
            <a:ext cx="10668030" cy="1714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1074" y="3352830"/>
            <a:ext cx="495239" cy="49523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281074" y="3505170"/>
            <a:ext cx="49523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766724" y="3924330"/>
            <a:ext cx="1524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-22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클러스터 등록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64140" y="2726101"/>
            <a:ext cx="495239" cy="49523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764140" y="2878440"/>
            <a:ext cx="49523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2249790" y="2383201"/>
            <a:ext cx="1524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-22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템플릿 선택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2486" y="2433676"/>
            <a:ext cx="495239" cy="49523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342486" y="2586015"/>
            <a:ext cx="49523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3828136" y="2090776"/>
            <a:ext cx="1524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OSS 설치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58835" y="2949854"/>
            <a:ext cx="495239" cy="49523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858835" y="3102193"/>
            <a:ext cx="49523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5344485" y="3521354"/>
            <a:ext cx="1524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-22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배포 템플릿 선택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87620" y="3427080"/>
            <a:ext cx="495239" cy="49523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387620" y="3579419"/>
            <a:ext cx="49523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6873270" y="3998580"/>
            <a:ext cx="1524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-22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CI/CD 자동 구축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31585" y="3022275"/>
            <a:ext cx="495239" cy="49523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931585" y="3174614"/>
            <a:ext cx="49523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8417235" y="3593775"/>
            <a:ext cx="1524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-22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애플리케이션 배포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415565" y="2407890"/>
            <a:ext cx="495239" cy="495239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10415565" y="2560229"/>
            <a:ext cx="49523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9901215" y="2064990"/>
            <a:ext cx="1524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-22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로깅 · 모니터링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09610" y="4552980"/>
            <a:ext cx="4476720" cy="323880"/>
          </a:xfrm>
          <a:prstGeom prst="roundRect">
            <a:avLst>
              <a:gd name="adj" fmla="val 41163"/>
            </a:avLst>
          </a:prstGeom>
          <a:ln w="12700">
            <a:solidFill>
              <a:srgbClr val="7A7A7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809610" y="4629150"/>
            <a:ext cx="447672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구축 도구</a:t>
            </a:r>
            <a:endParaRPr lang="en-US" sz="1200" b="1" dirty="0"/>
          </a:p>
        </p:txBody>
      </p:sp>
      <p:sp>
        <p:nvSpPr>
          <p:cNvPr id="29" name="Shape 26"/>
          <p:cNvSpPr/>
          <p:nvPr/>
        </p:nvSpPr>
        <p:spPr>
          <a:xfrm>
            <a:off x="5381610" y="4552980"/>
            <a:ext cx="4476720" cy="323880"/>
          </a:xfrm>
          <a:prstGeom prst="roundRect">
            <a:avLst>
              <a:gd name="adj" fmla="val 41163"/>
            </a:avLst>
          </a:prstGeom>
          <a:ln w="12700">
            <a:solidFill>
              <a:srgbClr val="7A7A7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381610" y="4629150"/>
            <a:ext cx="447672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배포 도구</a:t>
            </a:r>
            <a:endParaRPr lang="en-US" sz="1200" b="1" dirty="0"/>
          </a:p>
        </p:txBody>
      </p:sp>
      <p:sp>
        <p:nvSpPr>
          <p:cNvPr id="31" name="Shape 28"/>
          <p:cNvSpPr/>
          <p:nvPr/>
        </p:nvSpPr>
        <p:spPr>
          <a:xfrm>
            <a:off x="9953610" y="4552980"/>
            <a:ext cx="1428750" cy="323880"/>
          </a:xfrm>
          <a:prstGeom prst="roundRect">
            <a:avLst>
              <a:gd name="adj" fmla="val 41163"/>
            </a:avLst>
          </a:prstGeom>
          <a:ln w="12700">
            <a:solidFill>
              <a:srgbClr val="7A7A7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9953610" y="4629150"/>
            <a:ext cx="142875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 도구</a:t>
            </a:r>
            <a:endParaRPr lang="en-US" sz="1200" b="1" dirty="0"/>
          </a:p>
        </p:txBody>
      </p:sp>
      <p:sp>
        <p:nvSpPr>
          <p:cNvPr id="33" name="Shape 30"/>
          <p:cNvSpPr/>
          <p:nvPr/>
        </p:nvSpPr>
        <p:spPr>
          <a:xfrm>
            <a:off x="809610" y="4972050"/>
            <a:ext cx="10572750" cy="381030"/>
          </a:xfrm>
          <a:prstGeom prst="roundRect">
            <a:avLst>
              <a:gd name="adj" fmla="val 34989"/>
            </a:avLst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809610" y="5067330"/>
            <a:ext cx="1057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 — 전 구간을 하나의 제품에서 지원</a:t>
            </a:r>
            <a:endParaRPr lang="en-US" sz="1275" dirty="0"/>
          </a:p>
        </p:txBody>
      </p:sp>
      <p:sp>
        <p:nvSpPr>
          <p:cNvPr id="35" name="Shape 32"/>
          <p:cNvSpPr/>
          <p:nvPr/>
        </p:nvSpPr>
        <p:spPr>
          <a:xfrm>
            <a:off x="761970" y="5505420"/>
            <a:ext cx="10668030" cy="590520"/>
          </a:xfrm>
          <a:prstGeom prst="roundRect">
            <a:avLst>
              <a:gd name="adj" fmla="val 451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1028700" y="5619720"/>
            <a:ext cx="2095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조직별 커스터마이징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1028700" y="5810280"/>
            <a:ext cx="10134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교체(Harbor ↔ Nexus · GitLab ↔ Gitea) · 규모 프로파일 4종 · </a:t>
            </a:r>
            <a:r>
              <a:rPr lang="en-US" sz="1275" kern="0" spc="-37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단계 비활성 </a:t>
            </a: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YAML 직접 편집</a:t>
            </a:r>
            <a:endParaRPr lang="en-US" sz="1275" dirty="0"/>
          </a:p>
        </p:txBody>
      </p:sp>
      <p:sp>
        <p:nvSpPr>
          <p:cNvPr id="38" name="Text 35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18</a:t>
            </a:r>
            <a:endParaRPr lang="en-US" sz="900" dirty="0"/>
          </a:p>
        </p:txBody>
      </p:sp>
      <p:pic>
        <p:nvPicPr>
          <p:cNvPr id="39" name="Image 1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15CBA25-51F8-EE49-E170-A6C2BCC49CE2}"/>
              </a:ext>
            </a:extLst>
          </p:cNvPr>
          <p:cNvSpPr/>
          <p:nvPr/>
        </p:nvSpPr>
        <p:spPr>
          <a:xfrm rot="312591">
            <a:off x="8384999" y="280119"/>
            <a:ext cx="3483784" cy="10688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dirty="0">
                <a:solidFill>
                  <a:schemeClr val="tx1"/>
                </a:solidFill>
              </a:rPr>
              <a:t>클러스터 등록</a:t>
            </a:r>
            <a:r>
              <a:rPr kumimoji="1" lang="en-US" altLang="ko-KR" dirty="0">
                <a:solidFill>
                  <a:schemeClr val="tx1"/>
                </a:solidFill>
              </a:rPr>
              <a:t>,</a:t>
            </a:r>
            <a:r>
              <a:rPr kumimoji="1" lang="ko-KR" altLang="en-US" dirty="0">
                <a:solidFill>
                  <a:schemeClr val="tx1"/>
                </a:solidFill>
              </a:rPr>
              <a:t> 인프라 구축도구 등 폰트 크기 </a:t>
            </a:r>
            <a:r>
              <a:rPr kumimoji="1" lang="en-US" altLang="ko-KR" dirty="0">
                <a:solidFill>
                  <a:schemeClr val="tx1"/>
                </a:solidFill>
              </a:rPr>
              <a:t>10.5</a:t>
            </a:r>
            <a:r>
              <a:rPr kumimoji="1" lang="ko-KR" altLang="en-US" dirty="0">
                <a:solidFill>
                  <a:schemeClr val="tx1"/>
                </a:solidFill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</a:rPr>
              <a:t>-&gt;12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· 해답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설치 대상 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조합으로 묶어 단일 스택으로 관리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761970" y="1943100"/>
            <a:ext cx="2495558" cy="2857500"/>
          </a:xfrm>
          <a:prstGeom prst="roundRect">
            <a:avLst>
              <a:gd name="adj" fmla="val 106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09589" y="2171700"/>
            <a:ext cx="2000227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소스 · 레지스트리</a:t>
            </a:r>
            <a:endParaRPr lang="en-US" sz="1050" dirty="0"/>
          </a:p>
        </p:txBody>
      </p:sp>
      <p:pic>
        <p:nvPicPr>
          <p:cNvPr id="7" name="Image 0" descr="/private/tmp/claude-501/-Users-devlos-Desktop-project-draft/13e1ea6e-9b46-48b5-a623-9e7b0b3e29a4/scratchpad/deck/icons/git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09" y="2571750"/>
            <a:ext cx="495330" cy="4953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9589" y="314325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GitLab</a:t>
            </a:r>
            <a:endParaRPr lang="en-US" sz="1050" dirty="0"/>
          </a:p>
        </p:txBody>
      </p:sp>
      <p:pic>
        <p:nvPicPr>
          <p:cNvPr id="9" name="Image 1" descr="/private/tmp/claude-501/-Users-devlos-Desktop-project-draft/13e1ea6e-9b46-48b5-a623-9e7b0b3e29a4/scratchpad/deck/icons/git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22" y="2571750"/>
            <a:ext cx="495330" cy="4953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09703" y="314325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Gitea</a:t>
            </a:r>
            <a:endParaRPr lang="en-US" sz="1050" dirty="0"/>
          </a:p>
        </p:txBody>
      </p:sp>
      <p:pic>
        <p:nvPicPr>
          <p:cNvPr id="11" name="Image 2" descr="/private/tmp/claude-501/-Users-devlos-Desktop-project-draft/13e1ea6e-9b46-48b5-a623-9e7b0b3e29a4/scratchpad/deck/icons/harb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09" y="3733770"/>
            <a:ext cx="495330" cy="4953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9589" y="430527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Harbor</a:t>
            </a:r>
            <a:endParaRPr lang="en-US" sz="1050" dirty="0"/>
          </a:p>
        </p:txBody>
      </p:sp>
      <p:pic>
        <p:nvPicPr>
          <p:cNvPr id="13" name="Image 3" descr="/private/tmp/claude-501/-Users-devlos-Desktop-project-draft/13e1ea6e-9b46-48b5-a623-9e7b0b3e29a4/scratchpad/deck/icons/sonaty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022" y="3733770"/>
            <a:ext cx="495330" cy="4953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09703" y="430527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Nexus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486127" y="1943100"/>
            <a:ext cx="2495558" cy="2857500"/>
          </a:xfrm>
          <a:prstGeom prst="roundRect">
            <a:avLst>
              <a:gd name="adj" fmla="val 106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/>
          <p:nvPr/>
        </p:nvSpPr>
        <p:spPr>
          <a:xfrm>
            <a:off x="3733747" y="2171700"/>
            <a:ext cx="2000227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CI/CD</a:t>
            </a:r>
            <a:endParaRPr lang="en-US" sz="1050" dirty="0"/>
          </a:p>
        </p:txBody>
      </p:sp>
      <p:pic>
        <p:nvPicPr>
          <p:cNvPr id="17" name="Image 4" descr="/private/tmp/claude-501/-Users-devlos-Desktop-project-draft/13e1ea6e-9b46-48b5-a623-9e7b0b3e29a4/scratchpad/deck/icons/jenki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7066" y="2571750"/>
            <a:ext cx="495330" cy="4953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33747" y="314325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Jenkins</a:t>
            </a:r>
            <a:endParaRPr lang="en-US" sz="1050" dirty="0"/>
          </a:p>
        </p:txBody>
      </p:sp>
      <p:pic>
        <p:nvPicPr>
          <p:cNvPr id="19" name="Image 5" descr="/private/tmp/claude-501/-Users-devlos-Desktop-project-draft/13e1ea6e-9b46-48b5-a623-9e7b0b3e29a4/scratchpad/deck/icons/ar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7180" y="2571750"/>
            <a:ext cx="495330" cy="49533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733860" y="314325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Argo CD</a:t>
            </a:r>
            <a:endParaRPr lang="en-US" sz="1050" dirty="0"/>
          </a:p>
        </p:txBody>
      </p:sp>
      <p:pic>
        <p:nvPicPr>
          <p:cNvPr id="21" name="Image 6" descr="/private/tmp/claude-501/-Users-devlos-Desktop-project-draft/13e1ea6e-9b46-48b5-a623-9e7b0b3e29a4/scratchpad/deck/icons/githubacti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7066" y="3733770"/>
            <a:ext cx="495330" cy="49533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733747" y="430527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</a:t>
            </a:r>
            <a:endParaRPr lang="en-US" sz="1050" dirty="0"/>
          </a:p>
        </p:txBody>
      </p:sp>
      <p:pic>
        <p:nvPicPr>
          <p:cNvPr id="23" name="Image 7" descr="/private/tmp/claude-501/-Users-devlos-Desktop-project-draft/13e1ea6e-9b46-48b5-a623-9e7b0b3e29a4/scratchpad/deck/icons/flu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7180" y="3733770"/>
            <a:ext cx="495330" cy="49533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733860" y="430527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Flux</a:t>
            </a:r>
            <a:endParaRPr lang="en-US" sz="1050" dirty="0"/>
          </a:p>
        </p:txBody>
      </p:sp>
      <p:sp>
        <p:nvSpPr>
          <p:cNvPr id="25" name="Shape 15"/>
          <p:cNvSpPr/>
          <p:nvPr/>
        </p:nvSpPr>
        <p:spPr>
          <a:xfrm>
            <a:off x="6210285" y="1943100"/>
            <a:ext cx="2495558" cy="2857500"/>
          </a:xfrm>
          <a:prstGeom prst="roundRect">
            <a:avLst>
              <a:gd name="adj" fmla="val 106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6"/>
          <p:cNvSpPr/>
          <p:nvPr/>
        </p:nvSpPr>
        <p:spPr>
          <a:xfrm>
            <a:off x="6457904" y="2171700"/>
            <a:ext cx="2000227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관측</a:t>
            </a:r>
            <a:endParaRPr lang="en-US" sz="1050" dirty="0"/>
          </a:p>
        </p:txBody>
      </p:sp>
      <p:pic>
        <p:nvPicPr>
          <p:cNvPr id="27" name="Image 8" descr="/private/tmp/claude-501/-Users-devlos-Desktop-project-draft/13e1ea6e-9b46-48b5-a623-9e7b0b3e29a4/scratchpad/deck/icons/prometheu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224" y="2571750"/>
            <a:ext cx="495330" cy="49533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457904" y="314325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Prometheus</a:t>
            </a:r>
            <a:endParaRPr lang="en-US" sz="1050" dirty="0"/>
          </a:p>
        </p:txBody>
      </p:sp>
      <p:pic>
        <p:nvPicPr>
          <p:cNvPr id="29" name="Image 9" descr="/private/tmp/claude-501/-Users-devlos-Desktop-project-draft/13e1ea6e-9b46-48b5-a623-9e7b0b3e29a4/scratchpad/deck/icons/grafan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1337" y="2571750"/>
            <a:ext cx="495330" cy="49533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7458018" y="314325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Grafana</a:t>
            </a:r>
            <a:endParaRPr lang="en-US" sz="1050" dirty="0"/>
          </a:p>
        </p:txBody>
      </p:sp>
      <p:pic>
        <p:nvPicPr>
          <p:cNvPr id="31" name="Image 10" descr="/private/tmp/claude-501/-Users-devlos-Desktop-project-draft/13e1ea6e-9b46-48b5-a623-9e7b0b3e29a4/scratchpad/deck/icons/opensearc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224" y="3733770"/>
            <a:ext cx="495330" cy="49533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457904" y="430527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OpenSearch</a:t>
            </a:r>
            <a:endParaRPr lang="en-US" sz="1050" dirty="0"/>
          </a:p>
        </p:txBody>
      </p:sp>
      <p:pic>
        <p:nvPicPr>
          <p:cNvPr id="33" name="Image 11" descr="/private/tmp/claude-501/-Users-devlos-Desktop-project-draft/13e1ea6e-9b46-48b5-a623-9e7b0b3e29a4/scratchpad/deck/icons/opentelemetr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91337" y="3733770"/>
            <a:ext cx="495330" cy="49533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7458018" y="430527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OTel</a:t>
            </a:r>
            <a:endParaRPr lang="en-US" sz="1050" dirty="0"/>
          </a:p>
        </p:txBody>
      </p:sp>
      <p:sp>
        <p:nvSpPr>
          <p:cNvPr id="35" name="Shape 21"/>
          <p:cNvSpPr/>
          <p:nvPr/>
        </p:nvSpPr>
        <p:spPr>
          <a:xfrm>
            <a:off x="8934442" y="1943100"/>
            <a:ext cx="2495558" cy="2857500"/>
          </a:xfrm>
          <a:prstGeom prst="roundRect">
            <a:avLst>
              <a:gd name="adj" fmla="val 106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2"/>
          <p:cNvSpPr/>
          <p:nvPr/>
        </p:nvSpPr>
        <p:spPr>
          <a:xfrm>
            <a:off x="9182062" y="2171700"/>
            <a:ext cx="2000227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기반 · 시크릿</a:t>
            </a:r>
            <a:endParaRPr lang="en-US" sz="1050" dirty="0"/>
          </a:p>
        </p:txBody>
      </p:sp>
      <p:pic>
        <p:nvPicPr>
          <p:cNvPr id="37" name="Image 12" descr="/private/tmp/claude-501/-Users-devlos-Desktop-project-draft/13e1ea6e-9b46-48b5-a623-9e7b0b3e29a4/scratchpad/deck/icons/openba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15381" y="2571750"/>
            <a:ext cx="495330" cy="49533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9182062" y="314325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OpenBao</a:t>
            </a:r>
            <a:endParaRPr lang="en-US" sz="1050" dirty="0"/>
          </a:p>
        </p:txBody>
      </p:sp>
      <p:pic>
        <p:nvPicPr>
          <p:cNvPr id="39" name="Image 13" descr="/private/tmp/claude-501/-Users-devlos-Desktop-project-draft/13e1ea6e-9b46-48b5-a623-9e7b0b3e29a4/scratchpad/deck/icons/mini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15495" y="2571750"/>
            <a:ext cx="495330" cy="49533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10182175" y="314325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MinIO</a:t>
            </a:r>
            <a:endParaRPr lang="en-US" sz="1050" dirty="0"/>
          </a:p>
        </p:txBody>
      </p:sp>
      <p:pic>
        <p:nvPicPr>
          <p:cNvPr id="41" name="Image 14" descr="/private/tmp/claude-501/-Users-devlos-Desktop-project-draft/13e1ea6e-9b46-48b5-a623-9e7b0b3e29a4/scratchpad/deck/icons/docke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15381" y="3733770"/>
            <a:ext cx="495330" cy="49533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9182062" y="430527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</a:t>
            </a:r>
            <a:endParaRPr lang="en-US" sz="1050" dirty="0"/>
          </a:p>
        </p:txBody>
      </p:sp>
      <p:pic>
        <p:nvPicPr>
          <p:cNvPr id="43" name="Image 15" descr="/private/tmp/claude-501/-Users-devlos-Desktop-project-draft/13e1ea6e-9b46-48b5-a623-9e7b0b3e29a4/scratchpad/deck/icons/kubernete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15495" y="3733770"/>
            <a:ext cx="495330" cy="49533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10182175" y="4305270"/>
            <a:ext cx="1000114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K8s</a:t>
            </a:r>
            <a:endParaRPr lang="en-US" sz="1050" dirty="0"/>
          </a:p>
        </p:txBody>
      </p:sp>
      <p:sp>
        <p:nvSpPr>
          <p:cNvPr id="45" name="Shape 27"/>
          <p:cNvSpPr/>
          <p:nvPr/>
        </p:nvSpPr>
        <p:spPr>
          <a:xfrm>
            <a:off x="761970" y="4991070"/>
            <a:ext cx="10668030" cy="1104870"/>
          </a:xfrm>
          <a:prstGeom prst="roundRect">
            <a:avLst>
              <a:gd name="adj" fmla="val 2414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8"/>
          <p:cNvSpPr/>
          <p:nvPr/>
        </p:nvSpPr>
        <p:spPr>
          <a:xfrm>
            <a:off x="1104870" y="5238689"/>
            <a:ext cx="99822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Golden Path 템플릿 6종 — 검증된 조합만 묶어 제공</a:t>
            </a:r>
            <a:endParaRPr lang="en-US" sz="2100" dirty="0"/>
          </a:p>
        </p:txBody>
      </p:sp>
      <p:sp>
        <p:nvSpPr>
          <p:cNvPr id="47" name="Text 29"/>
          <p:cNvSpPr/>
          <p:nvPr/>
        </p:nvSpPr>
        <p:spPr>
          <a:xfrm>
            <a:off x="1104870" y="5676870"/>
            <a:ext cx="9982230" cy="266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GitLab All-in-One · GitLab+ArgoCD · GitHub+ArgoCD · Gitea+Jenkins(경량) · 레지스트리 중심 · OTel 관측 확장</a:t>
            </a:r>
            <a:endParaRPr lang="en-US" sz="1275" dirty="0"/>
          </a:p>
        </p:txBody>
      </p:sp>
      <p:sp>
        <p:nvSpPr>
          <p:cNvPr id="48" name="Text 30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18</a:t>
            </a:r>
            <a:endParaRPr lang="en-US" sz="900" dirty="0"/>
          </a:p>
        </p:txBody>
      </p:sp>
      <p:pic>
        <p:nvPicPr>
          <p:cNvPr id="49" name="Image 16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· 해답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화면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</a:t>
            </a: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개로 정리된 결정 항목</a:t>
            </a:r>
            <a:endParaRPr lang="en-US" sz="1575" dirty="0"/>
          </a:p>
        </p:txBody>
      </p:sp>
      <p:pic>
        <p:nvPicPr>
          <p:cNvPr id="5" name="Image 0" descr="/Users/devlos/Desktop/project/draft/.github/assets/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70" y="1943100"/>
            <a:ext cx="7619970" cy="4286250"/>
          </a:xfrm>
          <a:prstGeom prst="rect">
            <a:avLst/>
          </a:prstGeom>
          <a:effectLst>
            <a:outerShdw blurRad="381000" dist="63500" dir="27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705820" y="1943100"/>
            <a:ext cx="2724180" cy="1276320"/>
          </a:xfrm>
          <a:prstGeom prst="roundRect">
            <a:avLst>
              <a:gd name="adj" fmla="val 208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9010589" y="2190720"/>
            <a:ext cx="21146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 메뉴 4그룹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010589" y="2457450"/>
            <a:ext cx="2114641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스택 → CI/CD → 관측 → 관리</a:t>
            </a:r>
            <a:endParaRPr lang="en-US" sz="1275" dirty="0"/>
          </a:p>
        </p:txBody>
      </p:sp>
      <p:sp>
        <p:nvSpPr>
          <p:cNvPr id="9" name="Shape 6"/>
          <p:cNvSpPr/>
          <p:nvPr/>
        </p:nvSpPr>
        <p:spPr>
          <a:xfrm>
            <a:off x="8705820" y="3371850"/>
            <a:ext cx="2724180" cy="1276320"/>
          </a:xfrm>
          <a:prstGeom prst="roundRect">
            <a:avLst>
              <a:gd name="adj" fmla="val 208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010589" y="3619470"/>
            <a:ext cx="21146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 Quick Start (8Gi)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010589" y="3886200"/>
            <a:ext cx="2243565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환경에 맞춰 자동 재산정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8705820" y="4800600"/>
            <a:ext cx="2724180" cy="1276320"/>
          </a:xfrm>
          <a:prstGeom prst="roundRect">
            <a:avLst>
              <a:gd name="adj" fmla="val 208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9010589" y="5048220"/>
            <a:ext cx="21146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  Support Tools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010589" y="5314950"/>
            <a:ext cx="2419411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대상 OSS 를 진입 화면에 공개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18</a:t>
            </a:r>
            <a:endParaRPr lang="en-US" sz="900" dirty="0"/>
          </a:p>
        </p:txBody>
      </p:sp>
      <p:pic>
        <p:nvPicPr>
          <p:cNvPr id="16" name="Image 1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E731CA-16E0-A6E6-E65F-09D0EEABB713}"/>
              </a:ext>
            </a:extLst>
          </p:cNvPr>
          <p:cNvSpPr/>
          <p:nvPr/>
        </p:nvSpPr>
        <p:spPr>
          <a:xfrm rot="312591">
            <a:off x="8377870" y="280713"/>
            <a:ext cx="3513389" cy="101820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dirty="0">
                <a:solidFill>
                  <a:schemeClr val="tx1"/>
                </a:solidFill>
              </a:rPr>
              <a:t>1.</a:t>
            </a:r>
            <a:r>
              <a:rPr kumimoji="1" lang="ko-KR" altLang="en-US" dirty="0">
                <a:solidFill>
                  <a:schemeClr val="tx1"/>
                </a:solidFill>
              </a:rPr>
              <a:t> </a:t>
            </a:r>
            <a:r>
              <a:rPr kumimoji="1" lang="ko-KR" altLang="en-US" dirty="0" err="1">
                <a:solidFill>
                  <a:schemeClr val="tx1"/>
                </a:solidFill>
              </a:rPr>
              <a:t>진입점</a:t>
            </a:r>
            <a:r>
              <a:rPr kumimoji="1" lang="ko-KR" altLang="en-US" dirty="0">
                <a:solidFill>
                  <a:schemeClr val="tx1"/>
                </a:solidFill>
              </a:rPr>
              <a:t> 네 개 </a:t>
            </a:r>
            <a:r>
              <a:rPr kumimoji="1" lang="en-US" altLang="ko-KR" dirty="0">
                <a:solidFill>
                  <a:schemeClr val="tx1"/>
                </a:solidFill>
              </a:rPr>
              <a:t>-&gt;</a:t>
            </a:r>
            <a:r>
              <a:rPr kumimoji="1" lang="ko-KR" altLang="en-US" dirty="0">
                <a:solidFill>
                  <a:schemeClr val="tx1"/>
                </a:solidFill>
              </a:rPr>
              <a:t> </a:t>
            </a:r>
            <a:r>
              <a:rPr kumimoji="1" lang="ko-KR" altLang="en-US" dirty="0" err="1">
                <a:solidFill>
                  <a:schemeClr val="tx1"/>
                </a:solidFill>
              </a:rPr>
              <a:t>진입점</a:t>
            </a:r>
            <a:r>
              <a:rPr kumimoji="1" lang="ko-KR" altLang="en-US" dirty="0">
                <a:solidFill>
                  <a:schemeClr val="tx1"/>
                </a:solidFill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</a:rPr>
              <a:t>4</a:t>
            </a:r>
            <a:r>
              <a:rPr kumimoji="1" lang="ko-KR" altLang="en-US" dirty="0">
                <a:solidFill>
                  <a:schemeClr val="tx1"/>
                </a:solidFill>
              </a:rPr>
              <a:t>개 </a:t>
            </a:r>
            <a:br>
              <a:rPr kumimoji="1" lang="en-US" altLang="ko-KR" dirty="0">
                <a:solidFill>
                  <a:schemeClr val="tx1"/>
                </a:solidFill>
              </a:rPr>
            </a:br>
            <a:r>
              <a:rPr kumimoji="1" lang="en-US" altLang="ko-KR" dirty="0">
                <a:solidFill>
                  <a:schemeClr val="tx1"/>
                </a:solidFill>
              </a:rPr>
              <a:t>2.</a:t>
            </a:r>
            <a:r>
              <a:rPr kumimoji="1" lang="ko-KR" altLang="en-US" dirty="0">
                <a:solidFill>
                  <a:schemeClr val="tx1"/>
                </a:solidFill>
              </a:rPr>
              <a:t> 우측 설명 </a:t>
            </a:r>
            <a:r>
              <a:rPr kumimoji="1" lang="ko-KR" altLang="en-US" dirty="0" err="1">
                <a:solidFill>
                  <a:schemeClr val="tx1"/>
                </a:solidFill>
              </a:rPr>
              <a:t>줄바꿈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· 해답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배포 전 검증, 실제 화면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자원 합계와 조합 판정을 배포 버튼 누르기 전에 확인</a:t>
            </a:r>
            <a:endParaRPr lang="en-US" sz="1575" dirty="0"/>
          </a:p>
        </p:txBody>
      </p:sp>
      <p:pic>
        <p:nvPicPr>
          <p:cNvPr id="5" name="Image 0" descr="/private/tmp/claude-501/-Users-devlos-Desktop-project-draft/13e1ea6e-9b46-48b5-a623-9e7b0b3e29a4/scratchpad/deck/gat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70" y="1943100"/>
            <a:ext cx="10668030" cy="2381280"/>
          </a:xfrm>
          <a:prstGeom prst="rect">
            <a:avLst/>
          </a:prstGeom>
          <a:effectLst>
            <a:outerShdw blurRad="381000" dist="63500" dir="27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61970" y="4591020"/>
            <a:ext cx="3378190" cy="1504920"/>
          </a:xfrm>
          <a:prstGeom prst="roundRect">
            <a:avLst>
              <a:gd name="adj" fmla="val 177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066739" y="4838639"/>
            <a:ext cx="27686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자원 합계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1066739" y="5181539"/>
            <a:ext cx="29425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OSS 의 request / limit 합산 — 클러스터 수용 가능 여부를 먼저 확인</a:t>
            </a:r>
            <a:endParaRPr lang="en-US" sz="1275" dirty="0"/>
          </a:p>
        </p:txBody>
      </p:sp>
      <p:sp>
        <p:nvSpPr>
          <p:cNvPr id="9" name="Shape 6"/>
          <p:cNvSpPr/>
          <p:nvPr/>
        </p:nvSpPr>
        <p:spPr>
          <a:xfrm>
            <a:off x="4406890" y="4591020"/>
            <a:ext cx="3378190" cy="1504920"/>
          </a:xfrm>
          <a:prstGeom prst="roundRect">
            <a:avLst>
              <a:gd name="adj" fmla="val 177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711659" y="4838639"/>
            <a:ext cx="27686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PASS · Score 100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4711659" y="5181539"/>
            <a:ext cx="285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매칭된 매트릭스와 K8s 버전 범위를 함께 표기 — 판정 근거가 화면에 남음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8051810" y="4591020"/>
            <a:ext cx="3378190" cy="1504920"/>
          </a:xfrm>
          <a:prstGeom prst="roundRect">
            <a:avLst>
              <a:gd name="adj" fmla="val 177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356580" y="4838639"/>
            <a:ext cx="27686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FAIL 이면 배포 없음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8356580" y="5181539"/>
            <a:ext cx="28774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를 우회해 API 를 직접 호출해도 서버가 다시 판정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18</a:t>
            </a:r>
            <a:endParaRPr lang="en-US" sz="900" dirty="0"/>
          </a:p>
        </p:txBody>
      </p:sp>
      <p:pic>
        <p:nvPicPr>
          <p:cNvPr id="16" name="Image 1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 · 현황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동작하는 범위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v0.4.1 기준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761970" y="1943100"/>
            <a:ext cx="3378190" cy="1714500"/>
          </a:xfrm>
          <a:prstGeom prst="roundRect">
            <a:avLst>
              <a:gd name="adj" fmla="val 155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private/tmp/claude-501/-Users-devlos-Desktop-project-draft/13e1ea6e-9b46-48b5-a623-9e7b0b3e29a4/scratchpad/deck/icons/git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359" y="2190720"/>
            <a:ext cx="381030" cy="381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6739" y="219072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스택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66739" y="245745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설치 · 복구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1066739" y="2800350"/>
            <a:ext cx="266119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6종 · 노코드 마법사 · 실시간 로그 · 재시도 · 이어하기 · 롤백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4406890" y="1943100"/>
            <a:ext cx="3378190" cy="1714500"/>
          </a:xfrm>
          <a:prstGeom prst="roundRect">
            <a:avLst>
              <a:gd name="adj" fmla="val 15557"/>
            </a:avLst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711659" y="2190720"/>
            <a:ext cx="27686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11659" y="2457450"/>
            <a:ext cx="27686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호환성 게이트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4711659" y="2800350"/>
            <a:ext cx="276865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매트릭스 5종 · 배포 전 차단 · Known Issues 자동 진단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8051810" y="1943100"/>
            <a:ext cx="3378190" cy="1714500"/>
          </a:xfrm>
          <a:prstGeom prst="roundRect">
            <a:avLst>
              <a:gd name="adj" fmla="val 155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/private/tmp/claude-501/-Users-devlos-Desktop-project-draft/13e1ea6e-9b46-48b5-a623-9e7b0b3e29a4/scratchpad/deck/icons/ar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190720"/>
            <a:ext cx="381030" cy="3810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56580" y="219072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CI/CD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356580" y="245745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앱 배포</a:t>
            </a:r>
            <a:endParaRPr lang="en-US" sz="1575" dirty="0"/>
          </a:p>
        </p:txBody>
      </p:sp>
      <p:sp>
        <p:nvSpPr>
          <p:cNvPr id="18" name="Text 14"/>
          <p:cNvSpPr/>
          <p:nvPr/>
        </p:nvSpPr>
        <p:spPr>
          <a:xfrm>
            <a:off x="8356580" y="2800350"/>
            <a:ext cx="276865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4종 · 저장소 자동 생성 · Clone → Build → Deploy</a:t>
            </a:r>
            <a:endParaRPr lang="en-US" sz="1275" dirty="0"/>
          </a:p>
        </p:txBody>
      </p:sp>
      <p:sp>
        <p:nvSpPr>
          <p:cNvPr id="19" name="Shape 15"/>
          <p:cNvSpPr/>
          <p:nvPr/>
        </p:nvSpPr>
        <p:spPr>
          <a:xfrm>
            <a:off x="761970" y="3810030"/>
            <a:ext cx="3378190" cy="1714500"/>
          </a:xfrm>
          <a:prstGeom prst="roundRect">
            <a:avLst>
              <a:gd name="adj" fmla="val 155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/private/tmp/claude-501/-Users-devlos-Desktop-project-draft/13e1ea6e-9b46-48b5-a623-9e7b0b3e29a4/scratchpad/deck/icons/graf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359" y="4057650"/>
            <a:ext cx="381030" cy="3810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66739" y="405765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관측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066739" y="432438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대시보드 · 알림</a:t>
            </a:r>
            <a:endParaRPr lang="en-US" sz="1575" dirty="0"/>
          </a:p>
        </p:txBody>
      </p:sp>
      <p:sp>
        <p:nvSpPr>
          <p:cNvPr id="23" name="Text 18"/>
          <p:cNvSpPr/>
          <p:nvPr/>
        </p:nvSpPr>
        <p:spPr>
          <a:xfrm>
            <a:off x="1066739" y="4667280"/>
            <a:ext cx="276865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Prometheus 연동 · 알림 규칙과 이력</a:t>
            </a: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 로그 전건 기록</a:t>
            </a:r>
            <a:endParaRPr lang="en-US" sz="1275" dirty="0"/>
          </a:p>
        </p:txBody>
      </p:sp>
      <p:sp>
        <p:nvSpPr>
          <p:cNvPr id="24" name="Shape 19"/>
          <p:cNvSpPr/>
          <p:nvPr/>
        </p:nvSpPr>
        <p:spPr>
          <a:xfrm>
            <a:off x="4406890" y="3810030"/>
            <a:ext cx="3378190" cy="1714500"/>
          </a:xfrm>
          <a:prstGeom prst="roundRect">
            <a:avLst>
              <a:gd name="adj" fmla="val 155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/private/tmp/claude-501/-Users-devlos-Desktop-project-draft/13e1ea6e-9b46-48b5-a623-9e7b0b3e29a4/scratchpad/deck/icons/openb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280" y="4057650"/>
            <a:ext cx="381030" cy="3810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11659" y="405765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보안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711659" y="432438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RBAC · 시크릿</a:t>
            </a:r>
            <a:endParaRPr lang="en-US" sz="1575" dirty="0"/>
          </a:p>
        </p:txBody>
      </p:sp>
      <p:sp>
        <p:nvSpPr>
          <p:cNvPr id="28" name="Text 22"/>
          <p:cNvSpPr/>
          <p:nvPr/>
        </p:nvSpPr>
        <p:spPr>
          <a:xfrm>
            <a:off x="4711659" y="4667280"/>
            <a:ext cx="276865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OIDC 3역할 · 스택별 시크릿 저장소 구축</a:t>
            </a: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사이드바 · 라우트 · API 3중 권한 검사</a:t>
            </a:r>
            <a:endParaRPr lang="en-US" sz="1275" dirty="0"/>
          </a:p>
        </p:txBody>
      </p:sp>
      <p:sp>
        <p:nvSpPr>
          <p:cNvPr id="29" name="Shape 23"/>
          <p:cNvSpPr/>
          <p:nvPr/>
        </p:nvSpPr>
        <p:spPr>
          <a:xfrm>
            <a:off x="8051810" y="3810030"/>
            <a:ext cx="3378190" cy="1714500"/>
          </a:xfrm>
          <a:prstGeom prst="roundRect">
            <a:avLst>
              <a:gd name="adj" fmla="val 155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/private/tmp/claude-501/-Users-devlos-Desktop-project-draft/13e1ea6e-9b46-48b5-a623-9e7b0b3e29a4/scratchpad/deck/icons/do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4057650"/>
            <a:ext cx="381030" cy="38103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356580" y="405765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운영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8356580" y="432438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온프레미스 · 폐쇄망</a:t>
            </a:r>
            <a:endParaRPr lang="en-US" sz="1575" dirty="0"/>
          </a:p>
        </p:txBody>
      </p:sp>
      <p:sp>
        <p:nvSpPr>
          <p:cNvPr id="33" name="Text 26"/>
          <p:cNvSpPr/>
          <p:nvPr/>
        </p:nvSpPr>
        <p:spPr>
          <a:xfrm>
            <a:off x="8356580" y="4667280"/>
            <a:ext cx="276865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에어갭 번들 · 이미지 73종</a:t>
            </a:r>
            <a:endParaRPr lang="en-US" sz="1275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kind 로컬 · Zadara 실클라우드 검증</a:t>
            </a:r>
            <a:endParaRPr lang="en-US" sz="1275" dirty="0"/>
          </a:p>
        </p:txBody>
      </p:sp>
      <p:sp>
        <p:nvSpPr>
          <p:cNvPr id="34" name="Text 27"/>
          <p:cNvSpPr/>
          <p:nvPr/>
        </p:nvSpPr>
        <p:spPr>
          <a:xfrm>
            <a:off x="761970" y="5753130"/>
            <a:ext cx="10668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자동화 테스트 1,188  ·  설치 대상 OSS 20종 이상  ·  릴리스 4회 (v0.1 → v0.4.1)</a:t>
            </a:r>
            <a:endParaRPr lang="en-US" sz="1600" b="1" dirty="0"/>
          </a:p>
        </p:txBody>
      </p:sp>
      <p:sp>
        <p:nvSpPr>
          <p:cNvPr id="35" name="Text 28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18</a:t>
            </a:r>
            <a:endParaRPr lang="en-US" sz="900" dirty="0"/>
          </a:p>
        </p:txBody>
      </p:sp>
      <p:pic>
        <p:nvPicPr>
          <p:cNvPr id="36" name="Image 5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32D9013-9808-5469-451F-3288B4D0C6FB}"/>
              </a:ext>
            </a:extLst>
          </p:cNvPr>
          <p:cNvSpPr/>
          <p:nvPr/>
        </p:nvSpPr>
        <p:spPr>
          <a:xfrm rot="312591">
            <a:off x="9032789" y="284205"/>
            <a:ext cx="2310714" cy="3459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하단 폰트크기 수정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 · 내부 엔진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설치 순서 해석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"GitLab 설치" 한 줄에 실제로 필요한 선행 조건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761970" y="1943100"/>
            <a:ext cx="6286500" cy="2629083"/>
          </a:xfrm>
          <a:prstGeom prst="roundRect">
            <a:avLst>
              <a:gd name="adj" fmla="val 2897"/>
            </a:avLst>
          </a:prstGeom>
          <a:solidFill>
            <a:srgbClr val="EA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47720" y="2381280"/>
            <a:ext cx="6000750" cy="2190902"/>
          </a:xfrm>
          <a:prstGeom prst="roundRect">
            <a:avLst>
              <a:gd name="adj" fmla="val 3477"/>
            </a:avLst>
          </a:prstGeom>
          <a:solidFill>
            <a:srgbClr val="EA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33470" y="2819461"/>
            <a:ext cx="5715000" cy="1752722"/>
          </a:xfrm>
          <a:prstGeom prst="roundRect">
            <a:avLst>
              <a:gd name="adj" fmla="val 4346"/>
            </a:avLst>
          </a:prstGeom>
          <a:solidFill>
            <a:srgbClr val="EA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619220" y="3257641"/>
            <a:ext cx="5429250" cy="1314541"/>
          </a:xfrm>
          <a:prstGeom prst="roundRect">
            <a:avLst>
              <a:gd name="adj" fmla="val 5794"/>
            </a:avLst>
          </a:prstGeom>
          <a:solidFill>
            <a:srgbClr val="EA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04970" y="3695822"/>
            <a:ext cx="5143500" cy="876361"/>
          </a:xfrm>
          <a:prstGeom prst="roundRect">
            <a:avLst>
              <a:gd name="adj" fmla="val 8692"/>
            </a:avLst>
          </a:prstGeom>
          <a:solidFill>
            <a:srgbClr val="EA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90720" y="4134002"/>
            <a:ext cx="4857750" cy="438180"/>
          </a:xfrm>
          <a:prstGeom prst="roundRect">
            <a:avLst>
              <a:gd name="adj" fmla="val 17383"/>
            </a:avLst>
          </a:prstGeom>
          <a:solidFill>
            <a:srgbClr val="EA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1970" y="1943100"/>
            <a:ext cx="6286500" cy="381030"/>
          </a:xfrm>
          <a:prstGeom prst="roundRect">
            <a:avLst>
              <a:gd name="adj" fmla="val 349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2439" y="2038380"/>
            <a:ext cx="5905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GitLab — PostgreSQL 기동 필요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047720" y="2381280"/>
            <a:ext cx="6000750" cy="381030"/>
          </a:xfrm>
          <a:prstGeom prst="roundRect">
            <a:avLst>
              <a:gd name="adj" fmla="val 349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38189" y="2476561"/>
            <a:ext cx="561972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— 비밀번호 Secret 필요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1333470" y="2819461"/>
            <a:ext cx="5715000" cy="381030"/>
          </a:xfrm>
          <a:prstGeom prst="roundRect">
            <a:avLst>
              <a:gd name="adj" fmla="val 349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523939" y="2914741"/>
            <a:ext cx="5333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Secret — ESO 의 저장소 복제 필요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619220" y="3257641"/>
            <a:ext cx="5429250" cy="381030"/>
          </a:xfrm>
          <a:prstGeom prst="roundRect">
            <a:avLst>
              <a:gd name="adj" fmla="val 349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09689" y="3352922"/>
            <a:ext cx="504822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 — 시크릿 저장소 unseal 필요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1904970" y="3695822"/>
            <a:ext cx="5143500" cy="381030"/>
          </a:xfrm>
          <a:prstGeom prst="roundRect">
            <a:avLst>
              <a:gd name="adj" fmla="val 349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095439" y="3791102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시크릿 저장소 — PVC Bound 필요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2190720" y="4134002"/>
            <a:ext cx="4857750" cy="381030"/>
          </a:xfrm>
          <a:prstGeom prst="roundRect">
            <a:avLst>
              <a:gd name="adj" fmla="val 349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381189" y="4229283"/>
            <a:ext cx="447672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PVC — StorageClass 존재 필요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61970" y="4686483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칸 내려갈 때마다 선행 조건이 하나씩 늘어난다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39030" y="1943100"/>
            <a:ext cx="4190970" cy="1295430"/>
          </a:xfrm>
          <a:prstGeom prst="roundRect">
            <a:avLst>
              <a:gd name="adj" fmla="val 205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0" descr="/private/tmp/claude-501/-Users-devlos-Desktop-project-draft/13e1ea6e-9b46-48b5-a623-9e7b0b3e29a4/scratchpad/deck/icons/ui-layers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190720"/>
            <a:ext cx="381030" cy="38103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543800" y="2190720"/>
            <a:ext cx="31242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입력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543800" y="2457450"/>
            <a:ext cx="31242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스텝은 선행 조건만 선언</a:t>
            </a:r>
            <a:endParaRPr lang="en-US" sz="1575" dirty="0"/>
          </a:p>
        </p:txBody>
      </p:sp>
      <p:sp>
        <p:nvSpPr>
          <p:cNvPr id="28" name="Text 25"/>
          <p:cNvSpPr/>
          <p:nvPr/>
        </p:nvSpPr>
        <p:spPr>
          <a:xfrm>
            <a:off x="7543800" y="2800350"/>
            <a:ext cx="35814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29개 스텝이 각자 "무엇이 먼저 있어야 하는가" 만 선언</a:t>
            </a:r>
            <a:endParaRPr lang="en-US" sz="1275" dirty="0"/>
          </a:p>
        </p:txBody>
      </p:sp>
      <p:sp>
        <p:nvSpPr>
          <p:cNvPr id="29" name="Shape 26"/>
          <p:cNvSpPr/>
          <p:nvPr/>
        </p:nvSpPr>
        <p:spPr>
          <a:xfrm>
            <a:off x="7239030" y="3314700"/>
            <a:ext cx="4190970" cy="1371600"/>
          </a:xfrm>
          <a:prstGeom prst="roundRect">
            <a:avLst>
              <a:gd name="adj" fmla="val 194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" descr="/private/tmp/claude-501/-Users-devlos-Desktop-project-draft/13e1ea6e-9b46-48b5-a623-9e7b0b3e29a4/scratchpad/deck/icons/ui-dependency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3562320"/>
            <a:ext cx="381030" cy="38103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543800" y="3562320"/>
            <a:ext cx="31242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출력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543800" y="3829050"/>
            <a:ext cx="31242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순서는 엔진이 산출</a:t>
            </a:r>
            <a:endParaRPr lang="en-US" sz="1575" dirty="0"/>
          </a:p>
        </p:txBody>
      </p:sp>
      <p:sp>
        <p:nvSpPr>
          <p:cNvPr id="33" name="Text 29"/>
          <p:cNvSpPr/>
          <p:nvPr/>
        </p:nvSpPr>
        <p:spPr>
          <a:xfrm>
            <a:off x="7543800" y="4171950"/>
            <a:ext cx="3581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 그래프를 풀어 실행 순서 산출 · 정의와 실행 순서의 일치를 코드가 강제</a:t>
            </a:r>
            <a:endParaRPr lang="en-US" sz="1275" dirty="0"/>
          </a:p>
        </p:txBody>
      </p:sp>
      <p:sp>
        <p:nvSpPr>
          <p:cNvPr id="34" name="Shape 30"/>
          <p:cNvSpPr/>
          <p:nvPr/>
        </p:nvSpPr>
        <p:spPr>
          <a:xfrm>
            <a:off x="761970" y="4953030"/>
            <a:ext cx="10668030" cy="1143000"/>
          </a:xfrm>
          <a:prstGeom prst="roundRect">
            <a:avLst>
              <a:gd name="adj" fmla="val 233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1104870" y="5200650"/>
            <a:ext cx="99822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사람이 29단계를 기억하는 대신, 엔진이 매번 다시 산출</a:t>
            </a:r>
            <a:endParaRPr lang="en-US" sz="2100" dirty="0"/>
          </a:p>
        </p:txBody>
      </p:sp>
      <p:sp>
        <p:nvSpPr>
          <p:cNvPr id="36" name="Text 32"/>
          <p:cNvSpPr/>
          <p:nvPr/>
        </p:nvSpPr>
        <p:spPr>
          <a:xfrm>
            <a:off x="1104870" y="5638830"/>
            <a:ext cx="998223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구성이 바뀌면 순서도 함께 재계산 — Harbor 를 고르면 Nexus 스텝이 빠지고 후속 의존까지 반영</a:t>
            </a:r>
            <a:endParaRPr lang="en-US" sz="1275" dirty="0"/>
          </a:p>
        </p:txBody>
      </p:sp>
      <p:sp>
        <p:nvSpPr>
          <p:cNvPr id="37" name="Text 33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18</a:t>
            </a:r>
            <a:endParaRPr lang="en-US" sz="900" dirty="0"/>
          </a:p>
        </p:txBody>
      </p:sp>
      <p:pic>
        <p:nvPicPr>
          <p:cNvPr id="38" name="Image 2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 · 내부 엔진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호환성 게이트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조합을 네 단계로 판정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761970" y="1943100"/>
            <a:ext cx="2481293" cy="1524030"/>
          </a:xfrm>
          <a:prstGeom prst="roundRect">
            <a:avLst>
              <a:gd name="adj" fmla="val 1750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90570" y="2114550"/>
            <a:ext cx="2024093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kern="0" spc="-5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570" y="2571750"/>
            <a:ext cx="41907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90570" y="2724180"/>
            <a:ext cx="202409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이름 정규화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990570" y="3047970"/>
            <a:ext cx="202409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 사전으로 표준명 통일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3300413" y="2705115"/>
            <a:ext cx="133320" cy="0"/>
          </a:xfrm>
          <a:prstGeom prst="line">
            <a:avLst/>
          </a:prstGeom>
          <a:noFill/>
          <a:ln w="9525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90882" y="1943100"/>
            <a:ext cx="2481293" cy="1524030"/>
          </a:xfrm>
          <a:prstGeom prst="roundRect">
            <a:avLst>
              <a:gd name="adj" fmla="val 1750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719482" y="2114550"/>
            <a:ext cx="2024093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kern="0" spc="-5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3719482" y="2571750"/>
            <a:ext cx="41907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719482" y="2724180"/>
            <a:ext cx="202409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매트릭스 매칭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3719482" y="3047970"/>
            <a:ext cx="202409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매트릭스 5종에서 조합 탐색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6029325" y="2705115"/>
            <a:ext cx="133320" cy="0"/>
          </a:xfrm>
          <a:prstGeom prst="line">
            <a:avLst/>
          </a:prstGeom>
          <a:noFill/>
          <a:ln w="9525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19795" y="1943100"/>
            <a:ext cx="2481293" cy="1524030"/>
          </a:xfrm>
          <a:prstGeom prst="roundRect">
            <a:avLst>
              <a:gd name="adj" fmla="val 1750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48395" y="2114550"/>
            <a:ext cx="2024093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kern="0" spc="-5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48395" y="2571750"/>
            <a:ext cx="41907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48395" y="2724180"/>
            <a:ext cx="202409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 판정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6448395" y="3047970"/>
            <a:ext cx="202409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검증됨 · 미검증 · 미지원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8758238" y="2705115"/>
            <a:ext cx="133320" cy="0"/>
          </a:xfrm>
          <a:prstGeom prst="line">
            <a:avLst/>
          </a:prstGeom>
          <a:noFill/>
          <a:ln w="9525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948707" y="1943100"/>
            <a:ext cx="2481293" cy="1524030"/>
          </a:xfrm>
          <a:prstGeom prst="roundRect">
            <a:avLst>
              <a:gd name="adj" fmla="val 17502"/>
            </a:avLst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177307" y="2114550"/>
            <a:ext cx="2024093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kern="0" spc="-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177307" y="2571750"/>
            <a:ext cx="41907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177307" y="2724180"/>
            <a:ext cx="202409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아키텍처 검증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9177307" y="3047970"/>
            <a:ext cx="202409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CPU 와 도구 지원 대조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61970" y="3733770"/>
            <a:ext cx="1066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 아키텍처 검증 예시 — 대상 클러스터가 ARM64 인데 도구가 amd64 이미지만 제공하는 경우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761970" y="4038630"/>
            <a:ext cx="3378190" cy="1409730"/>
          </a:xfrm>
          <a:prstGeom prst="roundRect">
            <a:avLst>
              <a:gd name="adj" fmla="val 189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0" descr="/private/tmp/claude-501/-Users-devlos-Desktop-project-draft/13e1ea6e-9b46-48b5-a623-9e7b0b3e29a4/scratchpad/deck/icons/ui-gat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359" y="4286250"/>
            <a:ext cx="381030" cy="38103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66739" y="428625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검증됨 조합 → 배포 차단</a:t>
            </a:r>
            <a:endParaRPr lang="en-US" sz="1575" dirty="0"/>
          </a:p>
        </p:txBody>
      </p:sp>
      <p:sp>
        <p:nvSpPr>
          <p:cNvPr id="32" name="Text 29"/>
          <p:cNvSpPr/>
          <p:nvPr/>
        </p:nvSpPr>
        <p:spPr>
          <a:xfrm>
            <a:off x="1066739" y="4629150"/>
            <a:ext cx="2768651" cy="5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보증을 한 조합이므로 보증 위반 — 배포를 시작하지 않음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4406890" y="4038630"/>
            <a:ext cx="3378190" cy="1409730"/>
          </a:xfrm>
          <a:prstGeom prst="roundRect">
            <a:avLst>
              <a:gd name="adj" fmla="val 189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/private/tmp/claude-501/-Users-devlos-Desktop-project-draft/13e1ea6e-9b46-48b5-a623-9e7b0b3e29a4/scratchpad/deck/icons/ui-alert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280" y="4286250"/>
            <a:ext cx="381030" cy="38103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711659" y="428625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미검증 조합 → 경고 후 진행</a:t>
            </a:r>
            <a:endParaRPr lang="en-US" sz="1575" dirty="0"/>
          </a:p>
        </p:txBody>
      </p:sp>
      <p:sp>
        <p:nvSpPr>
          <p:cNvPr id="36" name="Text 32"/>
          <p:cNvSpPr/>
          <p:nvPr/>
        </p:nvSpPr>
        <p:spPr>
          <a:xfrm>
            <a:off x="4711659" y="4629150"/>
            <a:ext cx="3035381" cy="5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애초에 보증이 없으므로 사용자 확인을 받고 진행</a:t>
            </a:r>
            <a:endParaRPr lang="en-US" sz="1275" dirty="0"/>
          </a:p>
        </p:txBody>
      </p:sp>
      <p:sp>
        <p:nvSpPr>
          <p:cNvPr id="37" name="Shape 33"/>
          <p:cNvSpPr/>
          <p:nvPr/>
        </p:nvSpPr>
        <p:spPr>
          <a:xfrm>
            <a:off x="8051810" y="4038630"/>
            <a:ext cx="3378190" cy="1409730"/>
          </a:xfrm>
          <a:prstGeom prst="roundRect">
            <a:avLst>
              <a:gd name="adj" fmla="val 189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2" descr="/private/tmp/claude-501/-Users-devlos-Desktop-project-draft/13e1ea6e-9b46-48b5-a623-9e7b0b3e29a4/scratchpad/deck/icons/ui-search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4286250"/>
            <a:ext cx="381030" cy="38103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356580" y="428625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조회 불가 → 안내</a:t>
            </a:r>
            <a:endParaRPr lang="en-US" sz="1575" dirty="0"/>
          </a:p>
        </p:txBody>
      </p:sp>
      <p:sp>
        <p:nvSpPr>
          <p:cNvPr id="40" name="Text 35"/>
          <p:cNvSpPr/>
          <p:nvPr/>
        </p:nvSpPr>
        <p:spPr>
          <a:xfrm>
            <a:off x="8356580" y="4629150"/>
            <a:ext cx="2768651" cy="5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정보를 갱신하도록 안내하고 경고 표시</a:t>
            </a:r>
            <a:endParaRPr lang="en-US" sz="1275" dirty="0"/>
          </a:p>
        </p:txBody>
      </p:sp>
      <p:sp>
        <p:nvSpPr>
          <p:cNvPr id="41" name="Shape 36"/>
          <p:cNvSpPr/>
          <p:nvPr/>
        </p:nvSpPr>
        <p:spPr>
          <a:xfrm>
            <a:off x="761970" y="5524530"/>
            <a:ext cx="10668030" cy="571500"/>
          </a:xfrm>
          <a:prstGeom prst="roundRect">
            <a:avLst>
              <a:gd name="adj" fmla="val 4667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/>
          <p:nvPr/>
        </p:nvSpPr>
        <p:spPr>
          <a:xfrm>
            <a:off x="761970" y="5695980"/>
            <a:ext cx="10668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판정 결과는 사유 코드 · 점수 · 시각과 함께 기록으로 남음</a:t>
            </a:r>
            <a:endParaRPr lang="en-US" sz="1275" dirty="0"/>
          </a:p>
        </p:txBody>
      </p:sp>
      <p:sp>
        <p:nvSpPr>
          <p:cNvPr id="43" name="Text 38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18</a:t>
            </a:r>
            <a:endParaRPr lang="en-US" sz="900" dirty="0"/>
          </a:p>
        </p:txBody>
      </p:sp>
      <p:pic>
        <p:nvPicPr>
          <p:cNvPr id="44" name="Image 3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 · 내부 엔진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자원 규모 계획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지표를 입력하면 자원 요청량으로 변환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761970" y="1943100"/>
            <a:ext cx="3390930" cy="1638330"/>
          </a:xfrm>
          <a:prstGeom prst="roundRect">
            <a:avLst>
              <a:gd name="adj" fmla="val 16281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90570" y="2114550"/>
            <a:ext cx="293373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kern="0" spc="-5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570" y="2571750"/>
            <a:ext cx="41907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90570" y="2724180"/>
            <a:ext cx="29337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업무 지표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990570" y="3047970"/>
            <a:ext cx="2933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20명 · 일 커밋 120건 · 동시 러너 4개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4210050" y="2762265"/>
            <a:ext cx="133320" cy="0"/>
          </a:xfrm>
          <a:prstGeom prst="line">
            <a:avLst/>
          </a:prstGeom>
          <a:noFill/>
          <a:ln w="9525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00520" y="1943100"/>
            <a:ext cx="3390930" cy="1638330"/>
          </a:xfrm>
          <a:prstGeom prst="roundRect">
            <a:avLst>
              <a:gd name="adj" fmla="val 16281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29120" y="2114550"/>
            <a:ext cx="293373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kern="0" spc="-5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4629120" y="2571750"/>
            <a:ext cx="41907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29120" y="2724180"/>
            <a:ext cx="29337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가중 · 보정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4629120" y="3047970"/>
            <a:ext cx="2933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가중치 · 프로파일 배율 · 상하한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7848600" y="2762265"/>
            <a:ext cx="133320" cy="0"/>
          </a:xfrm>
          <a:prstGeom prst="line">
            <a:avLst/>
          </a:prstGeom>
          <a:noFill/>
          <a:ln w="9525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039070" y="1943100"/>
            <a:ext cx="3390930" cy="1638330"/>
          </a:xfrm>
          <a:prstGeom prst="roundRect">
            <a:avLst>
              <a:gd name="adj" fmla="val 16281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67670" y="2114550"/>
            <a:ext cx="293373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kern="0" spc="-5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8267670" y="2571750"/>
            <a:ext cx="41907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67670" y="2724180"/>
            <a:ext cx="29337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자원 벡터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8267670" y="3047970"/>
            <a:ext cx="2933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CPU · 메모리 · 스토리지 request / limit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761970" y="3848070"/>
            <a:ext cx="1066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러너를 2배로 늘리면 자원도 2배가 필요한가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61970" y="4267230"/>
            <a:ext cx="2095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러너 동시성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3047970" y="4229100"/>
            <a:ext cx="7239030" cy="342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238439" y="4305270"/>
            <a:ext cx="2857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2배 증설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761970" y="4800600"/>
            <a:ext cx="2095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컨트롤 플레인 자원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3047970" y="4762470"/>
            <a:ext cx="7239030" cy="342900"/>
          </a:xfrm>
          <a:prstGeom prst="roundRect">
            <a:avLst>
              <a:gd name="adj" fmla="val 50000"/>
            </a:avLst>
          </a:prstGeom>
          <a:ln w="12700">
            <a:solidFill>
              <a:srgbClr val="0066C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047970" y="4762470"/>
            <a:ext cx="4596784" cy="3429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238439" y="4838730"/>
            <a:ext cx="2857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1.27배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9144000" y="4838730"/>
            <a:ext cx="9525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선형 가정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1970" y="5257800"/>
            <a:ext cx="1066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지수(0.35)와 상한(1.45)으로 보정 — 선형 산정 대비 자원 요청을 약 36% 줄임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1970" y="5600700"/>
            <a:ext cx="2524155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52439" y="5715000"/>
            <a:ext cx="214312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local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952439" y="5715000"/>
            <a:ext cx="214312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kind · 8Gi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6595" y="5600700"/>
            <a:ext cx="2524155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667064" y="5715000"/>
            <a:ext cx="214312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startup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3667064" y="5715000"/>
            <a:ext cx="214312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소규모 팀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1220" y="5600700"/>
            <a:ext cx="2524155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381689" y="5715000"/>
            <a:ext cx="214312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standard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6381689" y="5715000"/>
            <a:ext cx="214312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905845" y="5600700"/>
            <a:ext cx="2524155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9096314" y="5715000"/>
            <a:ext cx="214312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enterprise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9096314" y="5715000"/>
            <a:ext cx="214312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대규모 조직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18</a:t>
            </a:r>
            <a:endParaRPr lang="en-US" sz="900" dirty="0"/>
          </a:p>
        </p:txBody>
      </p:sp>
      <p:pic>
        <p:nvPicPr>
          <p:cNvPr id="45" name="Image 0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 · 내부 엔진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실패 복구와 시크릿 수명주기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멈춘 자리에서 되돌리거나 이어가고, 비밀은 제품이 만들어 배달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761970" y="1943100"/>
            <a:ext cx="476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실패 시 선택지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761970" y="2228850"/>
            <a:ext cx="3378190" cy="1428750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private/tmp/claude-501/-Users-devlos-Desktop-project-draft/13e1ea6e-9b46-48b5-a623-9e7b0b3e29a4/scratchpad/deck/icons/ui-recover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359" y="2476470"/>
            <a:ext cx="381030" cy="3810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6739" y="247647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rolling_back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66739" y="274320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전량 되돌림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066739" y="3086100"/>
            <a:ext cx="2768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이전 상태로 복원 · 설치는 역순으로 제거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4406890" y="2228850"/>
            <a:ext cx="3378190" cy="1428750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private/tmp/claude-501/-Users-devlos-Desktop-project-draft/13e1ea6e-9b46-48b5-a623-9e7b0b3e29a4/scratchpad/deck/icons/ui-repeat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280" y="2476470"/>
            <a:ext cx="381030" cy="3810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1659" y="247647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retry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11659" y="274320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실패 스텝만</a:t>
            </a:r>
            <a:endParaRPr lang="en-US" sz="1575" dirty="0"/>
          </a:p>
        </p:txBody>
      </p:sp>
      <p:sp>
        <p:nvSpPr>
          <p:cNvPr id="15" name="Text 11"/>
          <p:cNvSpPr/>
          <p:nvPr/>
        </p:nvSpPr>
        <p:spPr>
          <a:xfrm>
            <a:off x="4711659" y="3086100"/>
            <a:ext cx="2768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성공분은 유지하고 멈춘 스텝만 재실행</a:t>
            </a:r>
            <a:endParaRPr lang="en-US" sz="1275" dirty="0"/>
          </a:p>
        </p:txBody>
      </p:sp>
      <p:sp>
        <p:nvSpPr>
          <p:cNvPr id="16" name="Shape 12"/>
          <p:cNvSpPr/>
          <p:nvPr/>
        </p:nvSpPr>
        <p:spPr>
          <a:xfrm>
            <a:off x="8051810" y="2228850"/>
            <a:ext cx="3378190" cy="1428750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private/tmp/claude-501/-Users-devlos-Desktop-project-draft/13e1ea6e-9b46-48b5-a623-9e7b0b3e29a4/scratchpad/deck/icons/ui-forward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2476470"/>
            <a:ext cx="381030" cy="3810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580" y="2476470"/>
            <a:ext cx="231145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continue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356580" y="2743200"/>
            <a:ext cx="231145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다음부터</a:t>
            </a:r>
            <a:endParaRPr lang="en-US" sz="1575" dirty="0"/>
          </a:p>
        </p:txBody>
      </p:sp>
      <p:sp>
        <p:nvSpPr>
          <p:cNvPr id="20" name="Text 15"/>
          <p:cNvSpPr/>
          <p:nvPr/>
        </p:nvSpPr>
        <p:spPr>
          <a:xfrm>
            <a:off x="8356580" y="3086100"/>
            <a:ext cx="2768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스텝을 포기하고 후속 스텝 진행</a:t>
            </a:r>
            <a:endParaRPr lang="en-US" sz="1275" dirty="0"/>
          </a:p>
        </p:txBody>
      </p:sp>
      <p:sp>
        <p:nvSpPr>
          <p:cNvPr id="21" name="Text 16"/>
          <p:cNvSpPr/>
          <p:nvPr/>
        </p:nvSpPr>
        <p:spPr>
          <a:xfrm>
            <a:off x="761970" y="3848070"/>
            <a:ext cx="476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시크릿 수명주기</a:t>
            </a:r>
            <a:endParaRPr lang="en-US" sz="1275" dirty="0"/>
          </a:p>
        </p:txBody>
      </p:sp>
      <p:sp>
        <p:nvSpPr>
          <p:cNvPr id="22" name="Shape 17"/>
          <p:cNvSpPr/>
          <p:nvPr/>
        </p:nvSpPr>
        <p:spPr>
          <a:xfrm>
            <a:off x="761970" y="4152930"/>
            <a:ext cx="1935510" cy="1200150"/>
          </a:xfrm>
          <a:prstGeom prst="roundRect">
            <a:avLst>
              <a:gd name="adj" fmla="val 2222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933420" y="4305361"/>
            <a:ext cx="1592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33420" y="4514850"/>
            <a:ext cx="159261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생성</a:t>
            </a:r>
            <a:endParaRPr lang="en-US" sz="1275" dirty="0"/>
          </a:p>
        </p:txBody>
      </p:sp>
      <p:sp>
        <p:nvSpPr>
          <p:cNvPr id="25" name="Text 20"/>
          <p:cNvSpPr/>
          <p:nvPr/>
        </p:nvSpPr>
        <p:spPr>
          <a:xfrm>
            <a:off x="933420" y="4781580"/>
            <a:ext cx="159261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랜덤 32바이트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754630" y="4753005"/>
            <a:ext cx="133320" cy="0"/>
          </a:xfrm>
          <a:prstGeom prst="line">
            <a:avLst/>
          </a:prstGeom>
          <a:noFill/>
          <a:ln w="9525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2945100" y="4152930"/>
            <a:ext cx="1935510" cy="1200150"/>
          </a:xfrm>
          <a:prstGeom prst="roundRect">
            <a:avLst>
              <a:gd name="adj" fmla="val 2222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3116550" y="4305361"/>
            <a:ext cx="1592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3116550" y="4514850"/>
            <a:ext cx="159261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저장소 기록</a:t>
            </a:r>
            <a:endParaRPr lang="en-US" sz="1275" dirty="0"/>
          </a:p>
        </p:txBody>
      </p:sp>
      <p:sp>
        <p:nvSpPr>
          <p:cNvPr id="30" name="Text 25"/>
          <p:cNvSpPr/>
          <p:nvPr/>
        </p:nvSpPr>
        <p:spPr>
          <a:xfrm>
            <a:off x="3116550" y="4781580"/>
            <a:ext cx="159261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OpenBao 기록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937760" y="4753005"/>
            <a:ext cx="133320" cy="0"/>
          </a:xfrm>
          <a:prstGeom prst="line">
            <a:avLst/>
          </a:prstGeom>
          <a:noFill/>
          <a:ln w="9525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5128230" y="4152930"/>
            <a:ext cx="1935510" cy="1200150"/>
          </a:xfrm>
          <a:prstGeom prst="roundRect">
            <a:avLst>
              <a:gd name="adj" fmla="val 2222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5299680" y="4305361"/>
            <a:ext cx="1592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5299680" y="4514850"/>
            <a:ext cx="159261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주입 선언</a:t>
            </a:r>
            <a:endParaRPr lang="en-US" sz="1275" dirty="0"/>
          </a:p>
        </p:txBody>
      </p:sp>
      <p:sp>
        <p:nvSpPr>
          <p:cNvPr id="35" name="Text 30"/>
          <p:cNvSpPr/>
          <p:nvPr/>
        </p:nvSpPr>
        <p:spPr>
          <a:xfrm>
            <a:off x="5299680" y="4781580"/>
            <a:ext cx="159261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ExternalSecret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7120890" y="4753005"/>
            <a:ext cx="133320" cy="0"/>
          </a:xfrm>
          <a:prstGeom prst="line">
            <a:avLst/>
          </a:prstGeom>
          <a:noFill/>
          <a:ln w="9525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7311360" y="4152930"/>
            <a:ext cx="1935510" cy="1200150"/>
          </a:xfrm>
          <a:prstGeom prst="roundRect">
            <a:avLst>
              <a:gd name="adj" fmla="val 22225"/>
            </a:avLst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/>
          <p:nvPr/>
        </p:nvSpPr>
        <p:spPr>
          <a:xfrm>
            <a:off x="7482810" y="4305361"/>
            <a:ext cx="1592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7482810" y="4514850"/>
            <a:ext cx="159261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도착 대기</a:t>
            </a:r>
            <a:endParaRPr lang="en-US" sz="1275" dirty="0"/>
          </a:p>
        </p:txBody>
      </p:sp>
      <p:sp>
        <p:nvSpPr>
          <p:cNvPr id="40" name="Text 35"/>
          <p:cNvSpPr/>
          <p:nvPr/>
        </p:nvSpPr>
        <p:spPr>
          <a:xfrm>
            <a:off x="7482810" y="4781580"/>
            <a:ext cx="159261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kern="0" spc="-2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Secret 생성 확인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9304020" y="4753005"/>
            <a:ext cx="133320" cy="0"/>
          </a:xfrm>
          <a:prstGeom prst="line">
            <a:avLst/>
          </a:prstGeom>
          <a:noFill/>
          <a:ln w="9525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9494490" y="4152930"/>
            <a:ext cx="1935510" cy="1200150"/>
          </a:xfrm>
          <a:prstGeom prst="roundRect">
            <a:avLst>
              <a:gd name="adj" fmla="val 2222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9665940" y="4305361"/>
            <a:ext cx="1592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9665940" y="4514850"/>
            <a:ext cx="159261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참조</a:t>
            </a:r>
            <a:endParaRPr lang="en-US" sz="1275" dirty="0"/>
          </a:p>
        </p:txBody>
      </p:sp>
      <p:sp>
        <p:nvSpPr>
          <p:cNvPr id="45" name="Text 40"/>
          <p:cNvSpPr/>
          <p:nvPr/>
        </p:nvSpPr>
        <p:spPr>
          <a:xfrm>
            <a:off x="9665940" y="4781580"/>
            <a:ext cx="159261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OSS 가 이름만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761970" y="55625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“04 </a:t>
            </a:r>
            <a:r>
              <a:rPr lang="en-US" sz="1275" kern="0" spc="-37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도착</a:t>
            </a: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75" kern="0" spc="-37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</a:t>
            </a: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 </a:t>
            </a:r>
            <a:r>
              <a:rPr lang="en-US" sz="1275" kern="0" spc="-37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</a:t>
            </a: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없으면 후속 차트가 아직 없는 Secret 을 참조해 기동에 실패 — 선언이 아니라 도착을 확인</a:t>
            </a:r>
            <a:endParaRPr lang="en-US" sz="1275" dirty="0"/>
          </a:p>
        </p:txBody>
      </p:sp>
      <p:sp>
        <p:nvSpPr>
          <p:cNvPr id="47" name="Text 42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18</a:t>
            </a:r>
            <a:endParaRPr lang="en-US" sz="900" dirty="0"/>
          </a:p>
        </p:txBody>
      </p:sp>
      <p:pic>
        <p:nvPicPr>
          <p:cNvPr id="48" name="Image 3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 · 내부 엔진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키관리 — 3계층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바깥에서 안으로 갈수록 파생 · 계층별 보관 주체 분리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1752630" y="2000250"/>
            <a:ext cx="4114800" cy="4114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381280" y="2628900"/>
            <a:ext cx="2857500" cy="2857500"/>
          </a:xfrm>
          <a:prstGeom prst="ellipse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009930" y="3257550"/>
            <a:ext cx="1600200" cy="1600200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752630" y="2190720"/>
            <a:ext cx="41148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L1 · 컨트롤 플레인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52630" y="24003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ENCRYPTION_KEY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2381280" y="2762220"/>
            <a:ext cx="2857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L2 · 대상 클러스터</a:t>
            </a:r>
            <a:endParaRPr lang="en-US" sz="1050" dirty="0"/>
          </a:p>
        </p:txBody>
      </p:sp>
      <p:pic>
        <p:nvPicPr>
          <p:cNvPr id="11" name="Image 0" descr="/private/tmp/claude-501/-Users-devlos-Desktop-project-draft/13e1ea6e-9b46-48b5-a623-9e7b0b3e29a4/scratchpad/deck/icons/openb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000868"/>
            <a:ext cx="304770" cy="30477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381280" y="3343768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chemeClr val="bg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OpenBao</a:t>
            </a:r>
            <a:endParaRPr lang="en-US" sz="1275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3009930" y="3771900"/>
            <a:ext cx="16002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009930" y="4000500"/>
            <a:ext cx="16002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K8s Secret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6400800" y="1943100"/>
            <a:ext cx="5029200" cy="990570"/>
          </a:xfrm>
          <a:prstGeom prst="roundRect">
            <a:avLst>
              <a:gd name="adj" fmla="val 269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/private/tmp/claude-501/-Users-devlos-Desktop-project-draft/13e1ea6e-9b46-48b5-a623-9e7b0b3e29a4/scratchpad/deck/icons/ui-record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30" y="2114550"/>
            <a:ext cx="266730" cy="2667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8470" y="213357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L1 · 컨트롤 플레인</a:t>
            </a:r>
            <a:endParaRPr lang="en-US" sz="1275" dirty="0"/>
          </a:p>
        </p:txBody>
      </p:sp>
      <p:sp>
        <p:nvSpPr>
          <p:cNvPr id="18" name="Text 14"/>
          <p:cNvSpPr/>
          <p:nvPr/>
        </p:nvSpPr>
        <p:spPr>
          <a:xfrm>
            <a:off x="7048470" y="2419320"/>
            <a:ext cx="41148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kubeconfig 를 AES-256-GCM 으로 암호화 · 복호화는 호출 시점 메모리 한정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0" y="3105120"/>
            <a:ext cx="5029200" cy="990570"/>
          </a:xfrm>
          <a:prstGeom prst="roundRect">
            <a:avLst>
              <a:gd name="adj" fmla="val 26927"/>
            </a:avLst>
          </a:prstGeom>
          <a:solidFill>
            <a:srgbClr val="EA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/private/tmp/claude-501/-Users-devlos-Desktop-project-draft/13e1ea6e-9b46-48b5-a623-9e7b0b3e29a4/scratchpad/deck/icons/ui-vault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30" y="3276570"/>
            <a:ext cx="266730" cy="2667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48470" y="3295589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L2 · 대상 클러스터</a:t>
            </a:r>
            <a:endParaRPr lang="en-US" sz="1275" dirty="0"/>
          </a:p>
        </p:txBody>
      </p:sp>
      <p:sp>
        <p:nvSpPr>
          <p:cNvPr id="22" name="Text 17"/>
          <p:cNvSpPr/>
          <p:nvPr/>
        </p:nvSpPr>
        <p:spPr>
          <a:xfrm>
            <a:off x="7048470" y="3581339"/>
            <a:ext cx="41148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비밀번호를 제품이 생성해 시크릿 저장소에 보관 · 사이드카가 자동 개방 · 스택당 1식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0" y="4267139"/>
            <a:ext cx="5029200" cy="990570"/>
          </a:xfrm>
          <a:prstGeom prst="roundRect">
            <a:avLst>
              <a:gd name="adj" fmla="val 269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/private/tmp/claude-501/-Users-devlos-Desktop-project-draft/13e1ea6e-9b46-48b5-a623-9e7b0b3e29a4/scratchpad/deck/icons/ui-layers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30" y="4438589"/>
            <a:ext cx="266730" cy="2667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8470" y="4457609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L3 · 워크로드</a:t>
            </a:r>
            <a:endParaRPr lang="en-US" sz="1275" dirty="0"/>
          </a:p>
        </p:txBody>
      </p:sp>
      <p:sp>
        <p:nvSpPr>
          <p:cNvPr id="26" name="Text 20"/>
          <p:cNvSpPr/>
          <p:nvPr/>
        </p:nvSpPr>
        <p:spPr>
          <a:xfrm>
            <a:off x="7048470" y="4743359"/>
            <a:ext cx="41148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 가 read-only 로 복제 · OSS 는 이름만 참조 · 삭제 시 5분 내 재생성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400800" y="558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비밀번호를 사용자가 넣지 않고, 제품이 만들어 끝까지 책임지는 구조</a:t>
            </a:r>
            <a:endParaRPr lang="en-US" sz="1275" dirty="0"/>
          </a:p>
        </p:txBody>
      </p:sp>
      <p:sp>
        <p:nvSpPr>
          <p:cNvPr id="28" name="Text 22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18</a:t>
            </a:r>
            <a:endParaRPr lang="en-US" sz="900" dirty="0"/>
          </a:p>
        </p:txBody>
      </p:sp>
      <p:pic>
        <p:nvPicPr>
          <p:cNvPr id="29" name="Image 4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 · 검증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 dirty="0" err="1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</a:t>
            </a:r>
            <a:r>
              <a:rPr lang="en-US" altLang="ko-KR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altLang="ko-KR" sz="3000" dirty="0" err="1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환경</a:t>
            </a:r>
            <a:r>
              <a:rPr lang="en-US" altLang="ko-KR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— </a:t>
            </a:r>
            <a:r>
              <a:rPr lang="en-US" altLang="ko-KR" sz="3000" dirty="0" err="1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Zadara</a:t>
            </a:r>
            <a:r>
              <a:rPr lang="en-US" altLang="ko-KR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Cloud </a:t>
            </a:r>
            <a:r>
              <a:rPr lang="en-US" altLang="ko-KR" sz="3000" dirty="0" err="1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테스트베드</a:t>
            </a:r>
            <a:endParaRPr lang="en-US" altLang="ko-KR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75" kern="0" spc="23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Kubespray</a:t>
            </a:r>
            <a:r>
              <a:rPr lang="en-US" altLang="ko-KR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75" kern="0" spc="23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</a:t>
            </a:r>
            <a:r>
              <a:rPr lang="en-US" altLang="ko-KR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Kubernetes 2클러스터 · </a:t>
            </a:r>
            <a:r>
              <a:rPr lang="en-US" altLang="ko-KR" sz="1575" kern="0" spc="23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</a:t>
            </a:r>
            <a:r>
              <a:rPr lang="en-US" altLang="ko-KR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kind </a:t>
            </a:r>
            <a:r>
              <a:rPr lang="en-US" altLang="ko-KR" sz="1575" kern="0" spc="23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</a:t>
            </a:r>
            <a:r>
              <a:rPr lang="en-US" altLang="ko-KR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75" kern="0" spc="23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실클라우드</a:t>
            </a:r>
            <a:r>
              <a:rPr lang="en-US" altLang="ko-KR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75" kern="0" spc="23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altLang="ko-KR" sz="1575" dirty="0"/>
          </a:p>
        </p:txBody>
      </p:sp>
      <p:sp>
        <p:nvSpPr>
          <p:cNvPr id="24" name="Text 18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18</a:t>
            </a:r>
            <a:endParaRPr lang="en-US" sz="900" dirty="0"/>
          </a:p>
        </p:txBody>
      </p:sp>
      <p:pic>
        <p:nvPicPr>
          <p:cNvPr id="25" name="Image 4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6431B807-5465-D020-DC3E-9CD909A9AD3D}"/>
              </a:ext>
            </a:extLst>
          </p:cNvPr>
          <p:cNvSpPr/>
          <p:nvPr/>
        </p:nvSpPr>
        <p:spPr>
          <a:xfrm>
            <a:off x="761970" y="1790670"/>
            <a:ext cx="1066803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0" descr="/private/tmp/claude-501/-Users-devlos-Desktop-project-draft/13e1ea6e-9b46-48b5-a623-9e7b0b3e29a4/scratchpad/deck/icons/il-cluster.png">
            <a:extLst>
              <a:ext uri="{FF2B5EF4-FFF2-40B4-BE49-F238E27FC236}">
                <a16:creationId xmlns:a16="http://schemas.microsoft.com/office/drawing/2014/main" id="{8D605D98-5113-5E81-76C3-EF1F0F63A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70" y="2057400"/>
            <a:ext cx="3733770" cy="2800350"/>
          </a:xfrm>
          <a:prstGeom prst="rect">
            <a:avLst/>
          </a:prstGeom>
        </p:spPr>
      </p:pic>
      <p:sp>
        <p:nvSpPr>
          <p:cNvPr id="29" name="Text 4">
            <a:extLst>
              <a:ext uri="{FF2B5EF4-FFF2-40B4-BE49-F238E27FC236}">
                <a16:creationId xmlns:a16="http://schemas.microsoft.com/office/drawing/2014/main" id="{184176AC-6EF1-273A-A96E-23C5801098AE}"/>
              </a:ext>
            </a:extLst>
          </p:cNvPr>
          <p:cNvSpPr/>
          <p:nvPr/>
        </p:nvSpPr>
        <p:spPr>
          <a:xfrm>
            <a:off x="1066830" y="4953030"/>
            <a:ext cx="16763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platform</a:t>
            </a:r>
            <a:endParaRPr lang="en-US" sz="1275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354DDD3-7D3F-37B1-5CE1-A80E8B508C71}"/>
              </a:ext>
            </a:extLst>
          </p:cNvPr>
          <p:cNvSpPr/>
          <p:nvPr/>
        </p:nvSpPr>
        <p:spPr>
          <a:xfrm>
            <a:off x="2895630" y="4953030"/>
            <a:ext cx="16763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develop</a:t>
            </a:r>
            <a:endParaRPr lang="en-US" sz="1275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47C20476-40F0-7DF0-113C-498243B58329}"/>
              </a:ext>
            </a:extLst>
          </p:cNvPr>
          <p:cNvSpPr/>
          <p:nvPr/>
        </p:nvSpPr>
        <p:spPr>
          <a:xfrm>
            <a:off x="990570" y="5219670"/>
            <a:ext cx="37337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Bastion 겸용 노드에서 두 클러스터를 원격 배포</a:t>
            </a:r>
            <a:endParaRPr lang="en-US" sz="105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D97A2CE6-90FF-CCBE-636B-A56B5AF56DC4}"/>
              </a:ext>
            </a:extLst>
          </p:cNvPr>
          <p:cNvSpPr/>
          <p:nvPr/>
        </p:nvSpPr>
        <p:spPr>
          <a:xfrm>
            <a:off x="5181630" y="1943100"/>
            <a:ext cx="158495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노드</a:t>
            </a:r>
            <a:endParaRPr lang="en-US" sz="105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5AD5D923-6BD6-1497-45A3-63062B4A40DA}"/>
              </a:ext>
            </a:extLst>
          </p:cNvPr>
          <p:cNvSpPr/>
          <p:nvPr/>
        </p:nvSpPr>
        <p:spPr>
          <a:xfrm>
            <a:off x="6861864" y="1943100"/>
            <a:ext cx="168996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사양</a:t>
            </a:r>
            <a:endParaRPr lang="en-US" sz="105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6E10FEC2-AE2D-DCBC-3699-4FCFE8E19D4D}"/>
              </a:ext>
            </a:extLst>
          </p:cNvPr>
          <p:cNvSpPr/>
          <p:nvPr/>
        </p:nvSpPr>
        <p:spPr>
          <a:xfrm>
            <a:off x="8647113" y="1943100"/>
            <a:ext cx="100737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클러스터</a:t>
            </a:r>
            <a:endParaRPr lang="en-US" sz="10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FB8DF4FF-0DAB-FE3C-A7A6-3595872FBADD}"/>
              </a:ext>
            </a:extLst>
          </p:cNvPr>
          <p:cNvSpPr/>
          <p:nvPr/>
        </p:nvSpPr>
        <p:spPr>
          <a:xfrm>
            <a:off x="9749766" y="1943100"/>
            <a:ext cx="158495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역할</a:t>
            </a:r>
            <a:endParaRPr lang="en-US" sz="105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443664D0-A4EA-B0BA-0A16-1CC149FD3F5B}"/>
              </a:ext>
            </a:extLst>
          </p:cNvPr>
          <p:cNvSpPr/>
          <p:nvPr/>
        </p:nvSpPr>
        <p:spPr>
          <a:xfrm>
            <a:off x="5181630" y="2209830"/>
            <a:ext cx="624837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0BC6AF8C-31B8-18FB-69B0-7BAFA129768E}"/>
              </a:ext>
            </a:extLst>
          </p:cNvPr>
          <p:cNvSpPr/>
          <p:nvPr/>
        </p:nvSpPr>
        <p:spPr>
          <a:xfrm>
            <a:off x="5181630" y="2324130"/>
            <a:ext cx="15849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node-10</a:t>
            </a:r>
            <a:endParaRPr lang="en-US" sz="105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30FF91D-6066-80FF-B3B2-918C44D14E5D}"/>
              </a:ext>
            </a:extLst>
          </p:cNvPr>
          <p:cNvSpPr/>
          <p:nvPr/>
        </p:nvSpPr>
        <p:spPr>
          <a:xfrm>
            <a:off x="6861864" y="2324130"/>
            <a:ext cx="1689968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vCPU / 4GB</a:t>
            </a:r>
            <a:endParaRPr lang="en-US" sz="105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7AFB6D62-3BDF-105F-D363-FC1AEFB5DEB0}"/>
              </a:ext>
            </a:extLst>
          </p:cNvPr>
          <p:cNvSpPr/>
          <p:nvPr/>
        </p:nvSpPr>
        <p:spPr>
          <a:xfrm>
            <a:off x="8647113" y="2324130"/>
            <a:ext cx="100737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105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366270B9-FC81-DEF8-C686-E7ED77476130}"/>
              </a:ext>
            </a:extLst>
          </p:cNvPr>
          <p:cNvSpPr/>
          <p:nvPr/>
        </p:nvSpPr>
        <p:spPr>
          <a:xfrm>
            <a:off x="9749766" y="2324130"/>
            <a:ext cx="15849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 · etcd · Bastion</a:t>
            </a:r>
            <a:endParaRPr lang="en-US" sz="1050" dirty="0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384F372B-F734-A2A8-920B-43D22D31F402}"/>
              </a:ext>
            </a:extLst>
          </p:cNvPr>
          <p:cNvSpPr/>
          <p:nvPr/>
        </p:nvSpPr>
        <p:spPr>
          <a:xfrm>
            <a:off x="5181630" y="2667030"/>
            <a:ext cx="624837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633BF6B9-9A38-4BC8-E15D-B6B8AC88ADBB}"/>
              </a:ext>
            </a:extLst>
          </p:cNvPr>
          <p:cNvSpPr/>
          <p:nvPr/>
        </p:nvSpPr>
        <p:spPr>
          <a:xfrm>
            <a:off x="5181630" y="2724180"/>
            <a:ext cx="15849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node-11</a:t>
            </a:r>
            <a:endParaRPr lang="en-US" sz="105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E9FB6A2C-480B-EA9C-71A9-CF3A96C1BD71}"/>
              </a:ext>
            </a:extLst>
          </p:cNvPr>
          <p:cNvSpPr/>
          <p:nvPr/>
        </p:nvSpPr>
        <p:spPr>
          <a:xfrm>
            <a:off x="6861864" y="2724180"/>
            <a:ext cx="1689968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vCPU / 16GB</a:t>
            </a:r>
            <a:endParaRPr lang="en-US" sz="105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C42D3453-BD73-B399-BC47-7C0FC099106C}"/>
              </a:ext>
            </a:extLst>
          </p:cNvPr>
          <p:cNvSpPr/>
          <p:nvPr/>
        </p:nvSpPr>
        <p:spPr>
          <a:xfrm>
            <a:off x="8647113" y="2724180"/>
            <a:ext cx="100737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10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308C0C18-7ED3-D933-479F-2E615CEEE2B4}"/>
              </a:ext>
            </a:extLst>
          </p:cNvPr>
          <p:cNvSpPr/>
          <p:nvPr/>
        </p:nvSpPr>
        <p:spPr>
          <a:xfrm>
            <a:off x="9749766" y="2724180"/>
            <a:ext cx="15849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Worker</a:t>
            </a:r>
            <a:endParaRPr lang="en-US" sz="1050" dirty="0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36DA07A4-9268-E906-BBA6-1C7DD717D5CC}"/>
              </a:ext>
            </a:extLst>
          </p:cNvPr>
          <p:cNvSpPr/>
          <p:nvPr/>
        </p:nvSpPr>
        <p:spPr>
          <a:xfrm>
            <a:off x="5181630" y="3067080"/>
            <a:ext cx="624837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FDEB410B-6B0D-DE36-E020-48ABA333D3E5}"/>
              </a:ext>
            </a:extLst>
          </p:cNvPr>
          <p:cNvSpPr/>
          <p:nvPr/>
        </p:nvSpPr>
        <p:spPr>
          <a:xfrm>
            <a:off x="5181630" y="3124230"/>
            <a:ext cx="15849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node-20</a:t>
            </a:r>
            <a:endParaRPr lang="en-US" sz="105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66CBC1FD-9642-8716-C818-7E0882CF01FA}"/>
              </a:ext>
            </a:extLst>
          </p:cNvPr>
          <p:cNvSpPr/>
          <p:nvPr/>
        </p:nvSpPr>
        <p:spPr>
          <a:xfrm>
            <a:off x="6861864" y="3124230"/>
            <a:ext cx="1689968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vCPU / 4GB</a:t>
            </a:r>
            <a:endParaRPr lang="en-US" sz="1050" dirty="0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9BA19075-35DF-D7E9-72E9-524C6E73DFBE}"/>
              </a:ext>
            </a:extLst>
          </p:cNvPr>
          <p:cNvSpPr/>
          <p:nvPr/>
        </p:nvSpPr>
        <p:spPr>
          <a:xfrm>
            <a:off x="8647113" y="3124230"/>
            <a:ext cx="100737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</a:t>
            </a:r>
            <a:endParaRPr lang="en-US" sz="1050" dirty="0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10E41617-D605-612D-76EB-C7682A87B713}"/>
              </a:ext>
            </a:extLst>
          </p:cNvPr>
          <p:cNvSpPr/>
          <p:nvPr/>
        </p:nvSpPr>
        <p:spPr>
          <a:xfrm>
            <a:off x="9749766" y="3124230"/>
            <a:ext cx="15849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 · etcd</a:t>
            </a:r>
            <a:endParaRPr lang="en-US" sz="1050" dirty="0"/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8CC17DFE-02CE-5AD7-A68A-1F61F90E4200}"/>
              </a:ext>
            </a:extLst>
          </p:cNvPr>
          <p:cNvSpPr/>
          <p:nvPr/>
        </p:nvSpPr>
        <p:spPr>
          <a:xfrm>
            <a:off x="5181630" y="3467130"/>
            <a:ext cx="624837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A277B5A8-2AD7-6A07-7A4C-1D81C58442AF}"/>
              </a:ext>
            </a:extLst>
          </p:cNvPr>
          <p:cNvSpPr/>
          <p:nvPr/>
        </p:nvSpPr>
        <p:spPr>
          <a:xfrm>
            <a:off x="5181630" y="3524280"/>
            <a:ext cx="15849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node-21</a:t>
            </a:r>
            <a:endParaRPr lang="en-US" sz="1050" dirty="0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9A771341-AFAC-D2AE-9F04-8423FD5F451E}"/>
              </a:ext>
            </a:extLst>
          </p:cNvPr>
          <p:cNvSpPr/>
          <p:nvPr/>
        </p:nvSpPr>
        <p:spPr>
          <a:xfrm>
            <a:off x="6861864" y="3524280"/>
            <a:ext cx="1689968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vCPU / 16GB</a:t>
            </a:r>
            <a:endParaRPr lang="en-US" sz="1050" dirty="0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E45BA852-6350-91AF-39AC-DF03F45FB04F}"/>
              </a:ext>
            </a:extLst>
          </p:cNvPr>
          <p:cNvSpPr/>
          <p:nvPr/>
        </p:nvSpPr>
        <p:spPr>
          <a:xfrm>
            <a:off x="8647113" y="3524280"/>
            <a:ext cx="100737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</a:t>
            </a:r>
            <a:endParaRPr lang="en-US" sz="105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6009874-3E3B-1B66-69F0-FA6ACCC91DCB}"/>
              </a:ext>
            </a:extLst>
          </p:cNvPr>
          <p:cNvSpPr/>
          <p:nvPr/>
        </p:nvSpPr>
        <p:spPr>
          <a:xfrm>
            <a:off x="9749766" y="3524280"/>
            <a:ext cx="15849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Worker</a:t>
            </a:r>
            <a:endParaRPr lang="en-US" sz="1050" dirty="0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2AF71839-1AE8-6BF8-5A7B-2AEB87549406}"/>
              </a:ext>
            </a:extLst>
          </p:cNvPr>
          <p:cNvSpPr/>
          <p:nvPr/>
        </p:nvSpPr>
        <p:spPr>
          <a:xfrm>
            <a:off x="5181630" y="4019520"/>
            <a:ext cx="6248370" cy="133347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C1457BD7-4654-0622-C678-E22C90ED5E0F}"/>
              </a:ext>
            </a:extLst>
          </p:cNvPr>
          <p:cNvSpPr/>
          <p:nvPr/>
        </p:nvSpPr>
        <p:spPr>
          <a:xfrm>
            <a:off x="5410230" y="4209989"/>
            <a:ext cx="57911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구성 스택</a:t>
            </a:r>
            <a:endParaRPr lang="en-US" sz="1050" dirty="0"/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B90BCE85-52E9-C6E6-558D-6CFAAC97D37C}"/>
              </a:ext>
            </a:extLst>
          </p:cNvPr>
          <p:cNvSpPr/>
          <p:nvPr/>
        </p:nvSpPr>
        <p:spPr>
          <a:xfrm>
            <a:off x="5410230" y="4438589"/>
            <a:ext cx="5791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환경 </a:t>
            </a:r>
            <a:r>
              <a:rPr lang="en-US" sz="1275" kern="0" spc="-37" dirty="0" err="1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구성</a:t>
            </a:r>
            <a:endParaRPr lang="en-US" sz="1275" dirty="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8BFAA281-DEB1-10AF-DAA5-AD1CBB8657A9}"/>
              </a:ext>
            </a:extLst>
          </p:cNvPr>
          <p:cNvSpPr/>
          <p:nvPr/>
        </p:nvSpPr>
        <p:spPr>
          <a:xfrm>
            <a:off x="5410230" y="4686209"/>
            <a:ext cx="579117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3000"/>
              </a:lnSpc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Kubespray v2.30.0 · Kubernetes v1.34.3 · containerd 2.2 · Calico CNI</a:t>
            </a:r>
            <a:endParaRPr lang="en-US" sz="1050" dirty="0"/>
          </a:p>
          <a:p>
            <a:pPr marL="0" indent="0">
              <a:lnSpc>
                <a:spcPct val="143000"/>
              </a:lnSpc>
              <a:buNone/>
            </a:pPr>
            <a:r>
              <a:rPr lang="en-US" sz="1050" kern="0" spc="-22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Ubuntu 22.04 LTS · VPC 단일 서브넷 · Bastion 경유 접근</a:t>
            </a:r>
            <a:endParaRPr lang="en-US" sz="1050" dirty="0"/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95AA87F3-3546-5155-D7AA-890A28A534E5}"/>
              </a:ext>
            </a:extLst>
          </p:cNvPr>
          <p:cNvSpPr/>
          <p:nvPr/>
        </p:nvSpPr>
        <p:spPr>
          <a:xfrm>
            <a:off x="761970" y="5505420"/>
            <a:ext cx="10668030" cy="609630"/>
          </a:xfrm>
          <a:prstGeom prst="roundRect">
            <a:avLst>
              <a:gd name="adj" fmla="val 281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36">
            <a:extLst>
              <a:ext uri="{FF2B5EF4-FFF2-40B4-BE49-F238E27FC236}">
                <a16:creationId xmlns:a16="http://schemas.microsoft.com/office/drawing/2014/main" id="{2C90A42C-80CE-3C64-FCFF-1341B6FF224B}"/>
              </a:ext>
            </a:extLst>
          </p:cNvPr>
          <p:cNvSpPr/>
          <p:nvPr/>
        </p:nvSpPr>
        <p:spPr>
          <a:xfrm>
            <a:off x="990570" y="5638739"/>
            <a:ext cx="400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050" dirty="0"/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306D0E35-B1F0-52B8-67AC-FFEA6CBC0EA5}"/>
              </a:ext>
            </a:extLst>
          </p:cNvPr>
          <p:cNvSpPr/>
          <p:nvPr/>
        </p:nvSpPr>
        <p:spPr>
          <a:xfrm>
            <a:off x="990570" y="5829300"/>
            <a:ext cx="102108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platform — Nullus 컨트롤 플레인 · develop — 워크로드 대상 클러스터로 등록 · 멀티 클러스터 시나리오 검증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 · 차별점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다른 도구와 다른 지점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전주기</a:t>
            </a: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연계 인증 · 자원 산정 — 세 가지를 함께 제공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761970" y="1943100"/>
            <a:ext cx="3378190" cy="3810030"/>
          </a:xfrm>
          <a:prstGeom prst="roundRect">
            <a:avLst>
              <a:gd name="adj" fmla="val 78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66739" y="2209830"/>
            <a:ext cx="114300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-8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066739" y="2857500"/>
            <a:ext cx="4572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66739" y="3181380"/>
            <a:ext cx="2768559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설치부터 배포까지 전주기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739" y="3810030"/>
            <a:ext cx="27685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클러스터 등록 → OSS 20종 설치 → 저장소 생성 → 앱 빌드·배포 → 관측까지 한 제품에서 수행. 인프라 도구와 앱 배포 도구를 따로 붙이지 않음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1066739" y="5010180"/>
            <a:ext cx="2768559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66739" y="5143500"/>
            <a:ext cx="2768559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29 설치 스텝 + 파이프라인 템플릿 4종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06890" y="1943100"/>
            <a:ext cx="3378190" cy="3810030"/>
          </a:xfrm>
          <a:prstGeom prst="roundRect">
            <a:avLst>
              <a:gd name="adj" fmla="val 78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11659" y="2209830"/>
            <a:ext cx="114300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-8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711659" y="2857500"/>
            <a:ext cx="4572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11659" y="3181380"/>
            <a:ext cx="2768559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OSS 간 연계 인증 자동화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11659" y="3810030"/>
            <a:ext cx="27685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OIDC client secret 을 만들어 Keycloak 에 등록하고, 레지스트리 토큰 · 러너 토큰 · webhook 시크릿을 발급해 각 도구에 주입. 콘솔을 돌며 토큰을 복사하지 않음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4711659" y="5010180"/>
            <a:ext cx="2768559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11659" y="5143500"/>
            <a:ext cx="2768559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Grafana · Argo CD · Harbor · MinIO · GitLab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51810" y="1943100"/>
            <a:ext cx="3378190" cy="3810030"/>
          </a:xfrm>
          <a:prstGeom prst="roundRect">
            <a:avLst>
              <a:gd name="adj" fmla="val 78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56580" y="2209830"/>
            <a:ext cx="114300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-8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8356580" y="2857500"/>
            <a:ext cx="4572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356580" y="3181380"/>
            <a:ext cx="2768559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리소스 자동 산정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56580" y="3810030"/>
            <a:ext cx="27685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규모 · 커밋 수 · 동시 러너 같은 업무 지표를 넣으면 CPU · 메모리 · 스토리지 요청량을 산출. 러너 증설은 비선형으로 보정해 과다 산정을 막음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8356580" y="5010180"/>
            <a:ext cx="2768559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356580" y="5143500"/>
            <a:ext cx="2768559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러너 2배 → 자원 1.27배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1970" y="588645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kern="0" spc="-37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설치를 자동화하는 도구는 있지만, 이 세 가지를 함께 갖춘 오픈소스는 드묾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18</a:t>
            </a:r>
            <a:endParaRPr lang="en-US" sz="900" dirty="0"/>
          </a:p>
        </p:txBody>
      </p:sp>
      <p:pic>
        <p:nvPicPr>
          <p:cNvPr id="28" name="Image 0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33370"/>
            <a:ext cx="106680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 · 계획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61970" y="800100"/>
            <a:ext cx="106680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70" y="1333470"/>
            <a:ext cx="106680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kern="0" spc="23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DevSecOps 완료 → 폐쇄망 100% 지원 → 안정화 및 고도화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1333470" y="3047970"/>
            <a:ext cx="952503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47699" y="2962199"/>
            <a:ext cx="171450" cy="171450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5189" y="2324039"/>
            <a:ext cx="24764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v0.4.1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95189" y="2628900"/>
            <a:ext cx="2476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189" y="3276570"/>
            <a:ext cx="24764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4422709" y="2962199"/>
            <a:ext cx="171450" cy="171450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70199" y="2324039"/>
            <a:ext cx="24764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DevSecOps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3270199" y="2628900"/>
            <a:ext cx="2476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Q3~Q4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70199" y="3276570"/>
            <a:ext cx="24764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완료 · 버그 패치</a:t>
            </a:r>
            <a:endParaRPr lang="en-US" sz="1275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백업 복구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7597719" y="2962199"/>
            <a:ext cx="171450" cy="171450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45209" y="2324039"/>
            <a:ext cx="24764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폐쇄망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6445209" y="2628900"/>
            <a:ext cx="2476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5209" y="3276570"/>
            <a:ext cx="24764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지원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0772729" y="2962199"/>
            <a:ext cx="171450" cy="171450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620220" y="2324039"/>
            <a:ext cx="24764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안정화 · 고도화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9620220" y="2628900"/>
            <a:ext cx="2476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20220" y="3276570"/>
            <a:ext cx="24764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· 확장성</a:t>
            </a:r>
            <a:endParaRPr lang="en-US" sz="1275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CNCF Sandbox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761970" y="4552980"/>
            <a:ext cx="7467630" cy="1543050"/>
          </a:xfrm>
          <a:prstGeom prst="roundRect">
            <a:avLst>
              <a:gd name="adj" fmla="val 17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104870" y="4819620"/>
            <a:ext cx="678183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기능은 섰고, 다음은 운영 신뢰성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04870" y="5257800"/>
            <a:ext cx="67818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스캔 통합 · 백업과 복구 · 폐쇄망 종단 검증 · 실환경 배포 검증</a:t>
            </a:r>
            <a:endParaRPr lang="en-US" sz="12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75" kern="0" spc="-37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뒤에 AI 기반 진단과 확장성 고도화</a:t>
            </a:r>
            <a:endParaRPr lang="en-US" sz="1275" dirty="0"/>
          </a:p>
        </p:txBody>
      </p:sp>
      <p:pic>
        <p:nvPicPr>
          <p:cNvPr id="25" name="Image 0" descr="/private/tmp/claude-501/-Users-devlos-Desktop-project-draft/13e1ea6e-9b46-48b5-a623-9e7b0b3e29a4/scratchpad/deck/icons/il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4305270"/>
            <a:ext cx="2514600" cy="18859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18</a:t>
            </a:r>
            <a:endParaRPr lang="en-US" sz="900" dirty="0"/>
          </a:p>
        </p:txBody>
      </p:sp>
      <p:pic>
        <p:nvPicPr>
          <p:cNvPr id="27" name="Image 1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2362170"/>
            <a:ext cx="10668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50" kern="0" spc="-37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DevSecOps 파이프라인 구축을, 클릭 몇 번으로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61970" y="3009930"/>
            <a:ext cx="106680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160개의 결정 항목을 사람이 아니라 제품이 들고 있는 것</a:t>
            </a:r>
            <a:endParaRPr lang="en-US" sz="1800" dirty="0"/>
          </a:p>
        </p:txBody>
      </p:sp>
      <p:pic>
        <p:nvPicPr>
          <p:cNvPr id="4" name="Image 0" descr="/private/tmp/claude-501/-Users-devlos-Desktop-project-draft/13e1ea6e-9b46-48b5-a623-9e7b0b3e29a4/scratchpad/deck/icons/il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70" y="3505170"/>
            <a:ext cx="2667030" cy="2000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970" y="5676870"/>
            <a:ext cx="1066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u="sng" kern="0" spc="-37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4" tooltip="Nullus 공식 사이트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nullus.io</a:t>
            </a:r>
            <a:r>
              <a:rPr lang="en-US" sz="1275" kern="0" spc="-37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·   github.com/cloud-nullus/draft   ·   Apache 2.0</a:t>
            </a:r>
            <a:endParaRPr lang="en-US" sz="1275" dirty="0"/>
          </a:p>
        </p:txBody>
      </p:sp>
      <p:sp>
        <p:nvSpPr>
          <p:cNvPr id="6" name="Text 3"/>
          <p:cNvSpPr/>
          <p:nvPr/>
        </p:nvSpPr>
        <p:spPr>
          <a:xfrm>
            <a:off x="761970" y="5943600"/>
            <a:ext cx="10668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2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CloudBro 커뮤니티 코어 프로젝트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1970" y="5333970"/>
            <a:ext cx="10668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75" kern="0" spc="23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감사합니다 — Q&amp;A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761970" y="6496080"/>
            <a:ext cx="19049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-12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18</a:t>
            </a:r>
            <a:endParaRPr lang="en-US" sz="900" dirty="0"/>
          </a:p>
        </p:txBody>
      </p:sp>
      <p:pic>
        <p:nvPicPr>
          <p:cNvPr id="9" name="Image 1" descr="/private/tmp/claude-501/-Users-devlos-Desktop-project-draft/13e1ea6e-9b46-48b5-a623-9e7b0b3e29a4/scratchpad/deck/mark-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28" y="6400800"/>
            <a:ext cx="190470" cy="1904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53928" y="6409944"/>
            <a:ext cx="5760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NULLUS</a:t>
            </a:r>
            <a:endParaRPr lang="en-US" sz="9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68DC5F-A493-F5CD-EC70-F03D5F9DEB78}"/>
              </a:ext>
            </a:extLst>
          </p:cNvPr>
          <p:cNvSpPr/>
          <p:nvPr/>
        </p:nvSpPr>
        <p:spPr>
          <a:xfrm rot="312591">
            <a:off x="5505020" y="123705"/>
            <a:ext cx="5815385" cy="10141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dirty="0" err="1">
                <a:solidFill>
                  <a:schemeClr val="tx1"/>
                </a:solidFill>
              </a:rPr>
              <a:t>Github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  <a:r>
              <a:rPr kumimoji="1" lang="ko-KR" altLang="en-US" dirty="0">
                <a:solidFill>
                  <a:schemeClr val="tx1"/>
                </a:solidFill>
              </a:rPr>
              <a:t>주소에 </a:t>
            </a:r>
            <a:r>
              <a:rPr kumimoji="1" lang="en-US" altLang="ko-KR" dirty="0">
                <a:solidFill>
                  <a:schemeClr val="tx1"/>
                </a:solidFill>
              </a:rPr>
              <a:t>draft </a:t>
            </a:r>
            <a:r>
              <a:rPr kumimoji="1" lang="ko-KR" altLang="en-US" dirty="0">
                <a:solidFill>
                  <a:schemeClr val="tx1"/>
                </a:solidFill>
              </a:rPr>
              <a:t>는 제외된 것이 아닐까요</a:t>
            </a:r>
            <a:r>
              <a:rPr kumimoji="1" lang="en-US" altLang="ko-KR" dirty="0">
                <a:solidFill>
                  <a:schemeClr val="tx1"/>
                </a:solidFill>
              </a:rPr>
              <a:t>? </a:t>
            </a:r>
            <a:r>
              <a:rPr kumimoji="1" lang="en-US" altLang="ko-KR" dirty="0">
                <a:solidFill>
                  <a:schemeClr val="tx1"/>
                </a:solidFill>
                <a:hlinkClick r:id="rId6"/>
              </a:rPr>
              <a:t>https://cloud-nullus.github.io/login or nullus.io</a:t>
            </a:r>
            <a:r>
              <a:rPr kumimoji="1" lang="en-US" altLang="ko-KR" dirty="0">
                <a:solidFill>
                  <a:schemeClr val="tx1"/>
                </a:solidFill>
              </a:rPr>
              <a:t> &lt;-</a:t>
            </a:r>
            <a:r>
              <a:rPr kumimoji="1" lang="ko-KR" altLang="en-US" dirty="0">
                <a:solidFill>
                  <a:schemeClr val="tx1"/>
                </a:solidFill>
              </a:rPr>
              <a:t>로그인은</a:t>
            </a:r>
            <a:r>
              <a:rPr kumimoji="1" lang="en-US" altLang="ko-KR" dirty="0">
                <a:solidFill>
                  <a:schemeClr val="tx1"/>
                </a:solidFill>
              </a:rPr>
              <a:t>?</a:t>
            </a:r>
          </a:p>
          <a:p>
            <a:endParaRPr kumimoji="1" lang="en-US" altLang="ko-KR" dirty="0">
              <a:solidFill>
                <a:schemeClr val="tx1"/>
              </a:solidFill>
            </a:endParaRPr>
          </a:p>
          <a:p>
            <a:r>
              <a:rPr lang="ko-KR" altLang="en-US" dirty="0"/>
              <a:t>🚀 </a:t>
            </a:r>
            <a:r>
              <a:rPr lang="ko-KR" altLang="en-US" b="1" u="sng" dirty="0">
                <a:hlinkClick r:id="rId7"/>
              </a:rPr>
              <a:t>라이브 데모</a:t>
            </a:r>
            <a:r>
              <a:rPr lang="ko-KR" altLang="en-US" dirty="0"/>
              <a:t> </a:t>
            </a:r>
            <a:r>
              <a:rPr lang="en-US" altLang="ko-KR" dirty="0"/>
              <a:t>— </a:t>
            </a:r>
            <a:r>
              <a:rPr lang="ko-KR" altLang="en-US" dirty="0"/>
              <a:t>설치 없이 화면 둘러보기</a:t>
            </a:r>
          </a:p>
          <a:p>
            <a:r>
              <a:rPr lang="ko-KR" altLang="en-US" dirty="0"/>
              <a:t>📦 </a:t>
            </a:r>
            <a:r>
              <a:rPr lang="en-US" altLang="ko-KR" b="1" u="sng" dirty="0">
                <a:hlinkClick r:id="rId8"/>
              </a:rPr>
              <a:t>cloud-nullus/nullus</a:t>
            </a:r>
            <a:r>
              <a:rPr lang="en-US" altLang="ko-KR" dirty="0"/>
              <a:t> — </a:t>
            </a:r>
            <a:r>
              <a:rPr lang="ko-KR" altLang="en-US" dirty="0"/>
              <a:t>플랫폼 본체 </a:t>
            </a:r>
            <a:r>
              <a:rPr lang="en-US" altLang="ko-KR" dirty="0"/>
              <a:t>· </a:t>
            </a:r>
            <a:r>
              <a:rPr lang="en-US" altLang="ko-KR" u="sng" dirty="0">
                <a:hlinkClick r:id="rId9"/>
              </a:rPr>
              <a:t>Quick Start</a:t>
            </a:r>
            <a:r>
              <a:rPr lang="en-US" altLang="ko-KR" dirty="0"/>
              <a:t> · Apache-2.0</a:t>
            </a:r>
          </a:p>
          <a:p>
            <a:endParaRPr kumimoji="1" lang="en-US" altLang="ko-K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2316</Words>
  <Application>Microsoft Macintosh PowerPoint</Application>
  <PresentationFormat>와이드스크린</PresentationFormat>
  <Paragraphs>438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Pretendard</vt:lpstr>
      <vt:lpstr>Pretendard Light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Nullus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Nullus 중간보고</dc:title>
  <dc:subject>PptxGenJS Presentation</dc:subject>
  <dc:creator>Nullus</dc:creator>
  <cp:lastModifiedBy>miyoung Jang</cp:lastModifiedBy>
  <cp:revision>19</cp:revision>
  <dcterms:created xsi:type="dcterms:W3CDTF">2026-08-18T12:20:12Z</dcterms:created>
  <dcterms:modified xsi:type="dcterms:W3CDTF">2026-08-18T14:16:59Z</dcterms:modified>
</cp:coreProperties>
</file>